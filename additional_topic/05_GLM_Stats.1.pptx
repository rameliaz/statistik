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333" r:id="rId3"/>
    <p:sldId id="341" r:id="rId4"/>
    <p:sldId id="313" r:id="rId5"/>
    <p:sldId id="334" r:id="rId6"/>
    <p:sldId id="335" r:id="rId7"/>
    <p:sldId id="336" r:id="rId8"/>
    <p:sldId id="337" r:id="rId9"/>
    <p:sldId id="338" r:id="rId10"/>
    <p:sldId id="339" r:id="rId11"/>
    <p:sldId id="331" r:id="rId12"/>
    <p:sldId id="332" r:id="rId13"/>
    <p:sldId id="346" r:id="rId14"/>
    <p:sldId id="347" r:id="rId15"/>
    <p:sldId id="345" r:id="rId16"/>
    <p:sldId id="350" r:id="rId17"/>
    <p:sldId id="349" r:id="rId18"/>
    <p:sldId id="348" r:id="rId19"/>
    <p:sldId id="353" r:id="rId20"/>
    <p:sldId id="352" r:id="rId21"/>
    <p:sldId id="351" r:id="rId22"/>
    <p:sldId id="342" r:id="rId23"/>
    <p:sldId id="355" r:id="rId24"/>
    <p:sldId id="354" r:id="rId25"/>
    <p:sldId id="33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E6993-CB23-401C-A32B-AEFD94B6AE18}" type="datetimeFigureOut">
              <a:rPr lang="en-US" smtClean="0"/>
              <a:t>11/25/2019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0D0C-783F-4670-A971-E44D79493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35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56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15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50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13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92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67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74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86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49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26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FDF69D3-A241-41F2-9E2C-2BA1D6478157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 defTabSz="91429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7CC1828-B425-4F8E-8470-C9086DFD6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65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2813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91281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1313" indent="-341313" algn="l" defTabSz="9128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580" y="590842"/>
            <a:ext cx="6789742" cy="1405892"/>
          </a:xfrm>
        </p:spPr>
        <p:txBody>
          <a:bodyPr/>
          <a:lstStyle/>
          <a:p>
            <a:r>
              <a:rPr lang="en-GB" b="1" dirty="0" err="1"/>
              <a:t>Analisis</a:t>
            </a:r>
            <a:r>
              <a:rPr lang="en-GB" b="1" dirty="0"/>
              <a:t> </a:t>
            </a:r>
            <a:r>
              <a:rPr lang="en-GB" b="1" dirty="0" err="1"/>
              <a:t>Varians</a:t>
            </a:r>
            <a:br>
              <a:rPr lang="en-GB" b="1"/>
            </a:br>
            <a:r>
              <a:rPr lang="en-GB" b="1"/>
              <a:t>(ANOVA)</a:t>
            </a:r>
            <a:endParaRPr lang="en-GB" b="1" dirty="0"/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512580" y="4049358"/>
            <a:ext cx="6789742" cy="70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2800" b="1" dirty="0" err="1"/>
              <a:t>Metode</a:t>
            </a:r>
            <a:r>
              <a:rPr lang="en-GB" sz="2800" b="1" dirty="0"/>
              <a:t> </a:t>
            </a:r>
            <a:r>
              <a:rPr lang="en-GB" sz="2800" b="1" dirty="0" err="1"/>
              <a:t>Penelitian</a:t>
            </a:r>
            <a:r>
              <a:rPr lang="en-GB" sz="2800" b="1" dirty="0"/>
              <a:t> dan </a:t>
            </a:r>
            <a:r>
              <a:rPr lang="en-GB" sz="2800" b="1" dirty="0" err="1"/>
              <a:t>Analisis</a:t>
            </a:r>
            <a:r>
              <a:rPr lang="en-GB" sz="2800" b="1" dirty="0"/>
              <a:t> Data </a:t>
            </a:r>
            <a:r>
              <a:rPr lang="en-GB" sz="2800" b="1" dirty="0" err="1"/>
              <a:t>Kuantitatif</a:t>
            </a:r>
            <a:endParaRPr lang="en-GB" sz="2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512580" y="4895302"/>
            <a:ext cx="6789742" cy="1405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3200" b="1" u="sng" dirty="0"/>
              <a:t>Rizqy Amelia Zein</a:t>
            </a:r>
          </a:p>
          <a:p>
            <a:r>
              <a:rPr lang="en-US" sz="2400" i="1" dirty="0" err="1"/>
              <a:t>Departemen</a:t>
            </a:r>
            <a:r>
              <a:rPr lang="en-US" sz="2400" i="1" dirty="0"/>
              <a:t> </a:t>
            </a:r>
            <a:r>
              <a:rPr lang="en-US" sz="2400" i="1" dirty="0" err="1"/>
              <a:t>Psikologi</a:t>
            </a:r>
            <a:r>
              <a:rPr lang="en-US" sz="2400" i="1" dirty="0"/>
              <a:t> </a:t>
            </a:r>
            <a:r>
              <a:rPr lang="en-US" sz="2400" i="1" dirty="0" err="1"/>
              <a:t>Kepribadian</a:t>
            </a:r>
            <a:r>
              <a:rPr lang="en-US" sz="2400" i="1" dirty="0"/>
              <a:t> dan </a:t>
            </a:r>
            <a:r>
              <a:rPr lang="en-US" sz="2400" i="1" dirty="0" err="1"/>
              <a:t>Sosial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44698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5984631" cy="4525963"/>
          </a:xfrm>
        </p:spPr>
        <p:txBody>
          <a:bodyPr/>
          <a:lstStyle/>
          <a:p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teknik</a:t>
            </a:r>
            <a:r>
              <a:rPr lang="en-US" sz="2000" dirty="0"/>
              <a:t> yang </a:t>
            </a:r>
            <a:r>
              <a:rPr lang="en-US" sz="2000" dirty="0" err="1"/>
              <a:t>sangat</a:t>
            </a:r>
            <a:r>
              <a:rPr lang="en-US" sz="2000" dirty="0"/>
              <a:t> </a:t>
            </a:r>
            <a:r>
              <a:rPr lang="en-US" sz="2000" dirty="0" err="1"/>
              <a:t>populer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Psikologi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Diperkenalkan</a:t>
            </a:r>
            <a:r>
              <a:rPr lang="en-US" sz="2000" dirty="0"/>
              <a:t> oleh Sir Ronald Fischer pada </a:t>
            </a:r>
            <a:r>
              <a:rPr lang="en-US" sz="2000" dirty="0" err="1"/>
              <a:t>awal</a:t>
            </a:r>
            <a:r>
              <a:rPr lang="en-US" sz="2000" dirty="0"/>
              <a:t> </a:t>
            </a:r>
            <a:r>
              <a:rPr lang="en-US" sz="2000" dirty="0" err="1"/>
              <a:t>abad</a:t>
            </a:r>
            <a:r>
              <a:rPr lang="en-US" sz="2000" dirty="0"/>
              <a:t> 20.</a:t>
            </a:r>
          </a:p>
          <a:p>
            <a:r>
              <a:rPr lang="en-US" sz="2000" dirty="0" err="1"/>
              <a:t>Meskipun</a:t>
            </a:r>
            <a:r>
              <a:rPr lang="en-US" sz="2000" dirty="0"/>
              <a:t> </a:t>
            </a:r>
            <a:r>
              <a:rPr lang="en-US" sz="2000" dirty="0" err="1"/>
              <a:t>namanya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i="1" dirty="0"/>
              <a:t>analysis of variance</a:t>
            </a:r>
            <a:r>
              <a:rPr lang="en-US" sz="2000" dirty="0"/>
              <a:t>, </a:t>
            </a:r>
            <a:r>
              <a:rPr lang="en-US" sz="2000" dirty="0" err="1"/>
              <a:t>tetapi</a:t>
            </a:r>
            <a:r>
              <a:rPr lang="en-US" sz="2000" dirty="0"/>
              <a:t> yang </a:t>
            </a:r>
            <a:r>
              <a:rPr lang="en-US" sz="2000" dirty="0" err="1"/>
              <a:t>sebenarnya</a:t>
            </a:r>
            <a:r>
              <a:rPr lang="en-US" sz="2000" dirty="0"/>
              <a:t> </a:t>
            </a:r>
            <a:r>
              <a:rPr lang="en-US" sz="2000" dirty="0" err="1"/>
              <a:t>dianalisis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peneliti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observasi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peneliti</a:t>
            </a:r>
            <a:r>
              <a:rPr lang="en-US" sz="2000" dirty="0"/>
              <a:t> 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mencari</a:t>
            </a:r>
            <a:r>
              <a:rPr lang="en-US" sz="2000" dirty="0"/>
              <a:t> </a:t>
            </a:r>
            <a:r>
              <a:rPr lang="en-US" sz="2000" dirty="0" err="1"/>
              <a:t>tahu</a:t>
            </a:r>
            <a:r>
              <a:rPr lang="en-US" sz="2000" dirty="0"/>
              <a:t> </a:t>
            </a:r>
            <a:r>
              <a:rPr lang="en-US" sz="2000" dirty="0" err="1"/>
              <a:t>apakah</a:t>
            </a:r>
            <a:r>
              <a:rPr lang="en-US" sz="2000" dirty="0"/>
              <a:t> </a:t>
            </a:r>
            <a:r>
              <a:rPr lang="en-US" sz="2000" i="1" dirty="0"/>
              <a:t>variable of interest </a:t>
            </a:r>
            <a:r>
              <a:rPr lang="en-US" sz="2000" dirty="0"/>
              <a:t>(Y)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antar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(X).</a:t>
            </a:r>
          </a:p>
          <a:p>
            <a:endParaRPr lang="en-US" sz="1600" dirty="0"/>
          </a:p>
          <a:p>
            <a:endParaRPr lang="en-US" sz="2000" dirty="0"/>
          </a:p>
        </p:txBody>
      </p:sp>
      <p:pic>
        <p:nvPicPr>
          <p:cNvPr id="1026" name="Picture 2" descr="Image result for anova meme">
            <a:extLst>
              <a:ext uri="{FF2B5EF4-FFF2-40B4-BE49-F238E27FC236}">
                <a16:creationId xmlns:a16="http://schemas.microsoft.com/office/drawing/2014/main" id="{5E770A06-FBB6-4196-8C82-68408CB4D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412" y="1480405"/>
            <a:ext cx="4008988" cy="303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27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4851862" cy="4525963"/>
          </a:xfrm>
        </p:spPr>
        <p:txBody>
          <a:bodyPr/>
          <a:lstStyle/>
          <a:p>
            <a:r>
              <a:rPr lang="en-US" sz="2000" dirty="0" err="1"/>
              <a:t>Eksplorasi</a:t>
            </a:r>
            <a:r>
              <a:rPr lang="en-US" sz="2000" dirty="0"/>
              <a:t> dataset (</a:t>
            </a:r>
            <a:r>
              <a:rPr lang="en-US" sz="2000" dirty="0" err="1"/>
              <a:t>cobaobat.omv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Mekanisme</a:t>
            </a:r>
            <a:r>
              <a:rPr lang="en-US" sz="2000" dirty="0"/>
              <a:t> ANOVA</a:t>
            </a:r>
          </a:p>
          <a:p>
            <a:r>
              <a:rPr lang="en-US" sz="2000" dirty="0" err="1"/>
              <a:t>Bagaimana</a:t>
            </a:r>
            <a:r>
              <a:rPr lang="en-US" sz="2000" dirty="0"/>
              <a:t> </a:t>
            </a:r>
            <a:r>
              <a:rPr lang="en-US" sz="2000" dirty="0" err="1"/>
              <a:t>melakukannya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jamovi</a:t>
            </a:r>
            <a:endParaRPr lang="en-US" sz="2000" dirty="0"/>
          </a:p>
          <a:p>
            <a:r>
              <a:rPr lang="en-US" sz="2000" dirty="0" err="1"/>
              <a:t>Menghitung</a:t>
            </a:r>
            <a:r>
              <a:rPr lang="en-US" sz="2000" dirty="0"/>
              <a:t> </a:t>
            </a:r>
            <a:r>
              <a:rPr lang="en-US" sz="2000" i="1" dirty="0"/>
              <a:t>effect size</a:t>
            </a:r>
          </a:p>
          <a:p>
            <a:r>
              <a:rPr lang="en-US" sz="2000" i="1" dirty="0"/>
              <a:t>Post-hoc test </a:t>
            </a:r>
            <a:r>
              <a:rPr lang="en-US" sz="2000" dirty="0"/>
              <a:t>dan </a:t>
            </a:r>
            <a:r>
              <a:rPr lang="en-US" sz="2000" dirty="0" err="1"/>
              <a:t>koreksi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dirty="0" err="1"/>
              <a:t>tes</a:t>
            </a:r>
            <a:r>
              <a:rPr lang="en-US" sz="2000" dirty="0"/>
              <a:t> </a:t>
            </a:r>
            <a:r>
              <a:rPr lang="en-US" sz="2000" dirty="0" err="1"/>
              <a:t>berulang</a:t>
            </a:r>
            <a:r>
              <a:rPr lang="en-US" sz="2000" dirty="0"/>
              <a:t> (</a:t>
            </a:r>
            <a:r>
              <a:rPr lang="en-US" sz="2000" i="1" dirty="0"/>
              <a:t>multiple correction test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Asumsi</a:t>
            </a:r>
            <a:r>
              <a:rPr lang="en-US" sz="2000" dirty="0"/>
              <a:t> dan uji </a:t>
            </a:r>
            <a:r>
              <a:rPr lang="en-US" sz="2000" dirty="0" err="1"/>
              <a:t>asumsi</a:t>
            </a:r>
            <a:endParaRPr lang="en-US" sz="2000" dirty="0"/>
          </a:p>
          <a:p>
            <a:r>
              <a:rPr lang="en-US" sz="2000" i="1" dirty="0"/>
              <a:t>A priori power analysis</a:t>
            </a:r>
          </a:p>
        </p:txBody>
      </p:sp>
      <p:pic>
        <p:nvPicPr>
          <p:cNvPr id="1026" name="Picture 2" descr="Image result for anova meme">
            <a:extLst>
              <a:ext uri="{FF2B5EF4-FFF2-40B4-BE49-F238E27FC236}">
                <a16:creationId xmlns:a16="http://schemas.microsoft.com/office/drawing/2014/main" id="{2F245009-F512-462A-96AC-0D33DE52F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14376"/>
            <a:ext cx="5715000" cy="52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42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 err="1"/>
              <a:t>Coba</a:t>
            </a:r>
            <a:r>
              <a:rPr lang="en-GB" b="1" dirty="0"/>
              <a:t> </a:t>
            </a:r>
            <a:r>
              <a:rPr lang="en-GB" b="1" dirty="0" err="1"/>
              <a:t>obat</a:t>
            </a:r>
            <a:r>
              <a:rPr lang="en-GB" b="1" dirty="0"/>
              <a:t> flu </a:t>
            </a:r>
            <a:r>
              <a:rPr lang="en-GB" b="1" dirty="0" err="1"/>
              <a:t>baru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6522719" cy="5190980"/>
          </a:xfrm>
        </p:spPr>
        <p:txBody>
          <a:bodyPr/>
          <a:lstStyle/>
          <a:p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membuat</a:t>
            </a:r>
            <a:r>
              <a:rPr lang="en-US" sz="2000" dirty="0"/>
              <a:t> </a:t>
            </a:r>
            <a:r>
              <a:rPr lang="en-US" sz="2000" dirty="0" err="1"/>
              <a:t>obat</a:t>
            </a:r>
            <a:r>
              <a:rPr lang="en-US" sz="2000" dirty="0"/>
              <a:t> flu </a:t>
            </a:r>
            <a:r>
              <a:rPr lang="en-US" sz="2000" dirty="0" err="1"/>
              <a:t>baru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formula </a:t>
            </a:r>
            <a:r>
              <a:rPr lang="en-US" sz="2000" dirty="0" err="1"/>
              <a:t>ciptaannya</a:t>
            </a:r>
            <a:r>
              <a:rPr lang="en-US" sz="2000" dirty="0"/>
              <a:t> </a:t>
            </a:r>
            <a:r>
              <a:rPr lang="en-US" sz="2000" dirty="0" err="1"/>
              <a:t>sendiri</a:t>
            </a:r>
            <a:r>
              <a:rPr lang="en-US" sz="2000" dirty="0"/>
              <a:t>. </a:t>
            </a:r>
            <a:r>
              <a:rPr lang="en-US" sz="2000" dirty="0" err="1"/>
              <a:t>Ia</a:t>
            </a:r>
            <a:r>
              <a:rPr lang="en-US" sz="2000" dirty="0"/>
              <a:t> 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tahu</a:t>
            </a:r>
            <a:r>
              <a:rPr lang="en-US" sz="2000" dirty="0"/>
              <a:t> </a:t>
            </a:r>
            <a:r>
              <a:rPr lang="en-US" sz="2000" dirty="0" err="1"/>
              <a:t>apakah</a:t>
            </a:r>
            <a:r>
              <a:rPr lang="en-US" sz="2000" dirty="0"/>
              <a:t> </a:t>
            </a:r>
            <a:r>
              <a:rPr lang="en-US" sz="2000" dirty="0" err="1"/>
              <a:t>obatnya</a:t>
            </a:r>
            <a:r>
              <a:rPr lang="en-US" sz="2000" dirty="0"/>
              <a:t> </a:t>
            </a:r>
            <a:r>
              <a:rPr lang="en-US" sz="2000" dirty="0" err="1"/>
              <a:t>bekerja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,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membuat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eksperimen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Ia</a:t>
            </a:r>
            <a:r>
              <a:rPr lang="en-US" sz="2000" dirty="0"/>
              <a:t> </a:t>
            </a:r>
            <a:r>
              <a:rPr lang="en-US" sz="2000" dirty="0" err="1"/>
              <a:t>membandingkan</a:t>
            </a:r>
            <a:r>
              <a:rPr lang="en-US" sz="2000" dirty="0"/>
              <a:t> 3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observasi</a:t>
            </a:r>
            <a:r>
              <a:rPr lang="en-US" sz="2000" dirty="0"/>
              <a:t> yang; </a:t>
            </a:r>
            <a:r>
              <a:rPr lang="en-US" sz="2000" dirty="0" err="1"/>
              <a:t>diberi</a:t>
            </a:r>
            <a:r>
              <a:rPr lang="en-US" sz="2000" dirty="0"/>
              <a:t> placebo,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mixagrip</a:t>
            </a:r>
            <a:r>
              <a:rPr lang="en-US" sz="2000" dirty="0"/>
              <a:t> (</a:t>
            </a:r>
            <a:r>
              <a:rPr lang="en-US" sz="2000" i="1" dirty="0"/>
              <a:t>gold standard</a:t>
            </a:r>
            <a:r>
              <a:rPr lang="en-US" sz="2000" dirty="0"/>
              <a:t>) dan </a:t>
            </a:r>
            <a:r>
              <a:rPr lang="en-US" sz="2000" dirty="0" err="1"/>
              <a:t>obat</a:t>
            </a:r>
            <a:r>
              <a:rPr lang="en-US" sz="2000" dirty="0"/>
              <a:t> flu </a:t>
            </a:r>
            <a:r>
              <a:rPr lang="en-US" sz="2000" dirty="0" err="1"/>
              <a:t>ciptaannya</a:t>
            </a:r>
            <a:r>
              <a:rPr lang="en-US" sz="2000" dirty="0"/>
              <a:t> (</a:t>
            </a:r>
            <a:r>
              <a:rPr lang="en-US" sz="2000" dirty="0" err="1"/>
              <a:t>flungalih</a:t>
            </a:r>
            <a:r>
              <a:rPr lang="en-US" sz="2000" dirty="0"/>
              <a:t>). </a:t>
            </a:r>
          </a:p>
          <a:p>
            <a:r>
              <a:rPr lang="en-US" sz="2000" dirty="0" err="1"/>
              <a:t>Penentuan</a:t>
            </a:r>
            <a:r>
              <a:rPr lang="en-US" sz="2000" dirty="0"/>
              <a:t> mana </a:t>
            </a:r>
            <a:r>
              <a:rPr lang="en-US" sz="2000" dirty="0" err="1"/>
              <a:t>responden</a:t>
            </a:r>
            <a:r>
              <a:rPr lang="en-US" sz="2000" dirty="0"/>
              <a:t> yang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i="1" dirty="0"/>
              <a:t>treatment </a:t>
            </a:r>
            <a:r>
              <a:rPr lang="en-US" sz="2000" dirty="0" err="1"/>
              <a:t>tertentu</a:t>
            </a:r>
            <a:r>
              <a:rPr lang="en-US" sz="2000" dirty="0"/>
              <a:t>,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acak</a:t>
            </a:r>
            <a:r>
              <a:rPr lang="en-US" sz="2000" dirty="0"/>
              <a:t>. </a:t>
            </a:r>
          </a:p>
          <a:p>
            <a:r>
              <a:rPr lang="en-US" sz="2000" dirty="0"/>
              <a:t>Mari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coba</a:t>
            </a:r>
            <a:r>
              <a:rPr lang="en-US" sz="2000" dirty="0"/>
              <a:t> </a:t>
            </a:r>
            <a:r>
              <a:rPr lang="en-US" sz="2000" dirty="0" err="1"/>
              <a:t>eksplorasi</a:t>
            </a:r>
            <a:r>
              <a:rPr lang="en-US" sz="2000" dirty="0"/>
              <a:t> </a:t>
            </a:r>
            <a:r>
              <a:rPr lang="en-US" sz="2000" dirty="0" err="1"/>
              <a:t>datanya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Klik</a:t>
            </a:r>
            <a:r>
              <a:rPr lang="en-US" sz="2000" dirty="0"/>
              <a:t> menu </a:t>
            </a:r>
            <a:r>
              <a:rPr lang="en-US" sz="2000" i="1" u="sng" dirty="0" err="1"/>
              <a:t>descriptives</a:t>
            </a:r>
            <a:r>
              <a:rPr lang="en-US" sz="2000" dirty="0"/>
              <a:t>, </a:t>
            </a:r>
            <a:r>
              <a:rPr lang="en-US" sz="2000" dirty="0" err="1"/>
              <a:t>masukkan</a:t>
            </a:r>
            <a:r>
              <a:rPr lang="en-US" sz="2000" dirty="0"/>
              <a:t> </a:t>
            </a:r>
            <a:r>
              <a:rPr lang="en-US" sz="2000" dirty="0" err="1"/>
              <a:t>variabel</a:t>
            </a:r>
            <a:r>
              <a:rPr lang="en-US" sz="2000" dirty="0"/>
              <a:t> </a:t>
            </a:r>
            <a:r>
              <a:rPr lang="en-US" sz="2000" b="1" dirty="0" err="1"/>
              <a:t>konsentrasi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u="sng" dirty="0"/>
              <a:t>variables</a:t>
            </a:r>
            <a:r>
              <a:rPr lang="en-US" sz="2000" dirty="0"/>
              <a:t> dan </a:t>
            </a:r>
            <a:r>
              <a:rPr lang="en-US" sz="2000" b="1" dirty="0" err="1"/>
              <a:t>obat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u="sng" dirty="0"/>
              <a:t>split by.</a:t>
            </a:r>
          </a:p>
          <a:p>
            <a:r>
              <a:rPr lang="en-US" sz="2000" dirty="0" err="1"/>
              <a:t>Keluarkan</a:t>
            </a:r>
            <a:r>
              <a:rPr lang="en-US" sz="2000" dirty="0"/>
              <a:t> </a:t>
            </a:r>
            <a:r>
              <a:rPr lang="en-US" sz="2000" dirty="0" err="1"/>
              <a:t>informasi</a:t>
            </a:r>
            <a:r>
              <a:rPr lang="en-US" sz="2000" dirty="0"/>
              <a:t> </a:t>
            </a:r>
            <a:r>
              <a:rPr lang="en-US" sz="2000" b="1" dirty="0" err="1"/>
              <a:t>jumlah</a:t>
            </a:r>
            <a:r>
              <a:rPr lang="en-US" sz="2000" b="1" dirty="0"/>
              <a:t> </a:t>
            </a:r>
            <a:r>
              <a:rPr lang="en-US" sz="2000" b="1" dirty="0" err="1"/>
              <a:t>sampel</a:t>
            </a:r>
            <a:r>
              <a:rPr lang="en-US" sz="2000" dirty="0"/>
              <a:t>, </a:t>
            </a:r>
            <a:r>
              <a:rPr lang="en-US" sz="2000" b="1" i="1" dirty="0"/>
              <a:t>mean</a:t>
            </a:r>
            <a:r>
              <a:rPr lang="en-US" sz="2000" dirty="0"/>
              <a:t>, </a:t>
            </a:r>
            <a:r>
              <a:rPr lang="en-US" sz="2000" b="1" dirty="0"/>
              <a:t>SD</a:t>
            </a:r>
            <a:r>
              <a:rPr lang="en-US" sz="2000" dirty="0"/>
              <a:t> dan </a:t>
            </a:r>
            <a:r>
              <a:rPr lang="en-US" sz="2000" b="1" i="1" dirty="0"/>
              <a:t>boxplot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pic>
        <p:nvPicPr>
          <p:cNvPr id="2050" name="Picture 2" descr="Image result for influenza meme">
            <a:extLst>
              <a:ext uri="{FF2B5EF4-FFF2-40B4-BE49-F238E27FC236}">
                <a16:creationId xmlns:a16="http://schemas.microsoft.com/office/drawing/2014/main" id="{AC3A62E3-9A82-4BB4-B325-3C2519C1B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607" y="1578600"/>
            <a:ext cx="4945034" cy="37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44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22847D-811F-479B-8B96-498627EBF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0355" y="332300"/>
            <a:ext cx="5816926" cy="44345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D45618-C863-4308-A213-F1F643744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21" y="332300"/>
            <a:ext cx="3221325" cy="309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7AA1FE-76D9-4468-8790-C9B50577D8D2}"/>
              </a:ext>
            </a:extLst>
          </p:cNvPr>
          <p:cNvSpPr txBox="1"/>
          <p:nvPr/>
        </p:nvSpPr>
        <p:spPr>
          <a:xfrm>
            <a:off x="1143621" y="5128953"/>
            <a:ext cx="8790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i="1" dirty="0"/>
              <a:t>boxplot</a:t>
            </a:r>
            <a:r>
              <a:rPr lang="en-US" dirty="0"/>
              <a:t>, </a:t>
            </a:r>
            <a:r>
              <a:rPr lang="en-US" dirty="0" err="1"/>
              <a:t>kelompok</a:t>
            </a:r>
            <a:r>
              <a:rPr lang="en-US" dirty="0"/>
              <a:t> yang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flungalih</a:t>
            </a:r>
            <a:r>
              <a:rPr lang="en-US" dirty="0"/>
              <a:t> </a:t>
            </a:r>
            <a:r>
              <a:rPr lang="en-US" dirty="0" err="1"/>
              <a:t>konsentrasinya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yang lain.</a:t>
            </a:r>
          </a:p>
          <a:p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pertanyaannya</a:t>
            </a:r>
            <a:r>
              <a:rPr lang="en-US" dirty="0"/>
              <a:t>,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i="1" dirty="0"/>
              <a:t>meaningful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kebetulan</a:t>
            </a:r>
            <a:r>
              <a:rPr lang="en-US" dirty="0"/>
              <a:t> (</a:t>
            </a:r>
            <a:r>
              <a:rPr lang="en-US" i="1" dirty="0"/>
              <a:t>by chance</a:t>
            </a:r>
            <a:r>
              <a:rPr lang="en-US" dirty="0"/>
              <a:t>) </a:t>
            </a:r>
            <a:r>
              <a:rPr lang="en-US" dirty="0" err="1"/>
              <a:t>saja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434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menjawab</a:t>
            </a:r>
            <a:r>
              <a:rPr lang="en-US" sz="2000" dirty="0"/>
              <a:t> </a:t>
            </a:r>
            <a:r>
              <a:rPr lang="en-US" sz="2000" dirty="0" err="1"/>
              <a:t>pertanyaan</a:t>
            </a:r>
            <a:r>
              <a:rPr lang="en-US" sz="2000" dirty="0"/>
              <a:t> </a:t>
            </a:r>
            <a:r>
              <a:rPr lang="en-US" sz="2000" dirty="0" err="1"/>
              <a:t>tadi</a:t>
            </a:r>
            <a:r>
              <a:rPr lang="en-US" sz="2000" dirty="0"/>
              <a:t>,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(one-way) ANOVA. </a:t>
            </a:r>
          </a:p>
          <a:p>
            <a:r>
              <a:rPr lang="en-US" sz="2000" dirty="0"/>
              <a:t>Ide </a:t>
            </a:r>
            <a:r>
              <a:rPr lang="en-US" sz="2000" dirty="0" err="1"/>
              <a:t>dasarnya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i="1" dirty="0"/>
              <a:t>t-test</a:t>
            </a:r>
            <a:r>
              <a:rPr lang="en-US" sz="2000" dirty="0"/>
              <a:t> yang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dipelajari</a:t>
            </a:r>
            <a:r>
              <a:rPr lang="en-US" sz="2000" dirty="0"/>
              <a:t> </a:t>
            </a:r>
            <a:r>
              <a:rPr lang="en-US" sz="2000" dirty="0" err="1"/>
              <a:t>sebelumnya</a:t>
            </a:r>
            <a:r>
              <a:rPr lang="en-US" sz="2000" dirty="0"/>
              <a:t>, 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yang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bandingkan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2. </a:t>
            </a:r>
          </a:p>
          <a:p>
            <a:r>
              <a:rPr lang="en-US" sz="2000" dirty="0" err="1"/>
              <a:t>Kalau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notasi</a:t>
            </a:r>
            <a:r>
              <a:rPr lang="en-US" sz="2000" dirty="0"/>
              <a:t> μ</a:t>
            </a:r>
            <a:r>
              <a:rPr lang="en-US" sz="2000" baseline="-25000" dirty="0"/>
              <a:t>p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 placebo, </a:t>
            </a:r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dirty="0" err="1"/>
              <a:t>μ</a:t>
            </a:r>
            <a:r>
              <a:rPr lang="en-US" sz="2000" baseline="-25000" dirty="0" err="1"/>
              <a:t>m</a:t>
            </a:r>
            <a:r>
              <a:rPr lang="en-US" sz="2000" dirty="0"/>
              <a:t> dan </a:t>
            </a:r>
            <a:r>
              <a:rPr lang="en-US" sz="2000" dirty="0" err="1"/>
              <a:t>μ</a:t>
            </a:r>
            <a:r>
              <a:rPr lang="en-US" sz="2000" baseline="-25000" dirty="0" err="1"/>
              <a:t>f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 yang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mixagrip</a:t>
            </a:r>
            <a:r>
              <a:rPr lang="en-US" sz="2000" dirty="0"/>
              <a:t> dan </a:t>
            </a:r>
            <a:r>
              <a:rPr lang="en-US" sz="2000" dirty="0" err="1"/>
              <a:t>flungalih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H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 err="1"/>
              <a:t>mengasumsikan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perbedaan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ketiga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. </a:t>
            </a:r>
            <a:r>
              <a:rPr lang="en-US" sz="2000" dirty="0" err="1"/>
              <a:t>Sehingga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			H</a:t>
            </a:r>
            <a:r>
              <a:rPr lang="en-US" sz="2000" baseline="-25000" dirty="0"/>
              <a:t>0</a:t>
            </a:r>
            <a:r>
              <a:rPr lang="en-US" sz="2000" dirty="0"/>
              <a:t> = </a:t>
            </a:r>
            <a:r>
              <a:rPr lang="en-US" sz="2000" dirty="0" err="1"/>
              <a:t>benar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μ</a:t>
            </a:r>
            <a:r>
              <a:rPr lang="en-US" sz="2000" baseline="-25000" dirty="0"/>
              <a:t>p </a:t>
            </a:r>
            <a:r>
              <a:rPr lang="en-US" sz="2000" dirty="0"/>
              <a:t>= </a:t>
            </a:r>
            <a:r>
              <a:rPr lang="en-US" sz="2000" dirty="0" err="1"/>
              <a:t>μ</a:t>
            </a:r>
            <a:r>
              <a:rPr lang="en-US" sz="2000" baseline="-25000" dirty="0" err="1"/>
              <a:t>m</a:t>
            </a:r>
            <a:r>
              <a:rPr lang="en-US" sz="2000" dirty="0"/>
              <a:t> = </a:t>
            </a:r>
            <a:r>
              <a:rPr lang="en-US" sz="2000" dirty="0" err="1"/>
              <a:t>μ</a:t>
            </a:r>
            <a:r>
              <a:rPr lang="en-US" sz="2000" baseline="-25000" dirty="0" err="1"/>
              <a:t>f</a:t>
            </a:r>
            <a:endParaRPr lang="en-US" sz="2000" baseline="-25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hipotesis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			</a:t>
            </a:r>
          </a:p>
          <a:p>
            <a:pPr marL="0" indent="0">
              <a:buNone/>
            </a:pPr>
            <a:r>
              <a:rPr lang="en-US" sz="2000"/>
              <a:t>				Ha </a:t>
            </a:r>
            <a:r>
              <a:rPr lang="en-US" sz="2000" dirty="0"/>
              <a:t>=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benar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μ</a:t>
            </a:r>
            <a:r>
              <a:rPr lang="en-US" sz="2000" baseline="-25000" dirty="0"/>
              <a:t>p </a:t>
            </a:r>
            <a:r>
              <a:rPr lang="en-US" sz="2000" dirty="0"/>
              <a:t>= </a:t>
            </a:r>
            <a:r>
              <a:rPr lang="en-US" sz="2000" dirty="0" err="1"/>
              <a:t>μ</a:t>
            </a:r>
            <a:r>
              <a:rPr lang="en-US" sz="2000" baseline="-25000" dirty="0" err="1"/>
              <a:t>m</a:t>
            </a:r>
            <a:r>
              <a:rPr lang="en-US" sz="2000" dirty="0"/>
              <a:t> = </a:t>
            </a:r>
            <a:r>
              <a:rPr lang="en-US" sz="2000" dirty="0" err="1"/>
              <a:t>μ</a:t>
            </a:r>
            <a:r>
              <a:rPr lang="en-US" sz="2000" baseline="-25000" dirty="0" err="1"/>
              <a:t>f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189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</p:spPr>
            <p:txBody>
              <a:bodyPr/>
              <a:lstStyle/>
              <a:p>
                <a:r>
                  <a:rPr lang="en-US" sz="2000" dirty="0"/>
                  <a:t>Beberapa </a:t>
                </a:r>
                <a:r>
                  <a:rPr lang="en-US" sz="2000" dirty="0" err="1"/>
                  <a:t>notasi</a:t>
                </a:r>
                <a:r>
                  <a:rPr lang="en-US" sz="2000" dirty="0"/>
                  <a:t> yang </a:t>
                </a:r>
                <a:r>
                  <a:rPr lang="en-US" sz="2000" dirty="0" err="1"/>
                  <a:t>perlu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disepakati</a:t>
                </a:r>
                <a:r>
                  <a:rPr lang="en-US" sz="2000" dirty="0"/>
                  <a:t>:</a:t>
                </a:r>
              </a:p>
              <a:p>
                <a:pPr lvl="1"/>
                <a:r>
                  <a:rPr lang="en-US" sz="1600" dirty="0"/>
                  <a:t>Kita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i="1" dirty="0"/>
                  <a:t>G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melambangkan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jumlah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dataset </a:t>
                </a:r>
                <a:r>
                  <a:rPr lang="en-US" sz="1600" dirty="0" err="1"/>
                  <a:t>ada</a:t>
                </a:r>
                <a:r>
                  <a:rPr lang="en-US" sz="1600" dirty="0"/>
                  <a:t> 3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 (placebo, </a:t>
                </a:r>
                <a:r>
                  <a:rPr lang="en-US" sz="1600" dirty="0" err="1"/>
                  <a:t>mixagrip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flungalih</a:t>
                </a:r>
                <a:r>
                  <a:rPr lang="en-US" sz="1600" dirty="0"/>
                  <a:t>), </a:t>
                </a:r>
                <a:r>
                  <a:rPr lang="en-US" sz="1600" dirty="0" err="1"/>
                  <a:t>sehingga</a:t>
                </a:r>
                <a:r>
                  <a:rPr lang="en-US" sz="1600" dirty="0"/>
                  <a:t> </a:t>
                </a:r>
                <a:r>
                  <a:rPr lang="en-US" sz="1600" i="1" dirty="0"/>
                  <a:t>G</a:t>
                </a:r>
                <a:r>
                  <a:rPr lang="en-US" sz="1600" dirty="0"/>
                  <a:t>=3</a:t>
                </a:r>
              </a:p>
              <a:p>
                <a:pPr lvl="1"/>
                <a:r>
                  <a:rPr lang="en-US" sz="1600" dirty="0"/>
                  <a:t>Kita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i="1" dirty="0"/>
                  <a:t>N </a:t>
                </a:r>
                <a:r>
                  <a:rPr lang="en-US" sz="1600" dirty="0" err="1"/>
                  <a:t>sebagai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lambang</a:t>
                </a:r>
                <a:r>
                  <a:rPr lang="en-US" sz="1600" dirty="0"/>
                  <a:t> </a:t>
                </a:r>
                <a:r>
                  <a:rPr lang="en-US" sz="1600" dirty="0" err="1"/>
                  <a:t>jumlah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sampel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sehingga</a:t>
                </a:r>
                <a:r>
                  <a:rPr lang="en-US" sz="1600" dirty="0"/>
                  <a:t> </a:t>
                </a:r>
                <a:r>
                  <a:rPr lang="en-US" sz="1600" i="1" dirty="0"/>
                  <a:t>N</a:t>
                </a:r>
                <a:r>
                  <a:rPr lang="en-US" sz="1600" dirty="0"/>
                  <a:t>=18. </a:t>
                </a:r>
                <a:r>
                  <a:rPr lang="en-US" sz="1600" dirty="0" err="1"/>
                  <a:t>Selanjutnya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kita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notasi</a:t>
                </a:r>
                <a:r>
                  <a:rPr lang="en-US" sz="1600" dirty="0"/>
                  <a:t> </a:t>
                </a:r>
                <a:r>
                  <a:rPr lang="en-US" sz="1600" i="1" dirty="0"/>
                  <a:t>N</a:t>
                </a:r>
                <a:r>
                  <a:rPr lang="en-US" sz="1600" baseline="-25000" dirty="0"/>
                  <a:t>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melambangkan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jumlah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sampel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suatu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observasi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ke</a:t>
                </a:r>
                <a:r>
                  <a:rPr lang="en-US" sz="1600" dirty="0"/>
                  <a:t>-</a:t>
                </a:r>
                <a:r>
                  <a:rPr lang="en-US" sz="1600" i="1" dirty="0"/>
                  <a:t>k</a:t>
                </a:r>
                <a:r>
                  <a:rPr lang="en-US" sz="1600" dirty="0"/>
                  <a:t>. Karena </a:t>
                </a:r>
                <a:r>
                  <a:rPr lang="en-US" sz="1600" dirty="0" err="1"/>
                  <a:t>jumlah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sampel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setiap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sama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maka</a:t>
                </a:r>
                <a:r>
                  <a:rPr lang="en-US" sz="1600" dirty="0"/>
                  <a:t> </a:t>
                </a:r>
                <a:r>
                  <a:rPr lang="en-US" sz="1600" i="1" dirty="0"/>
                  <a:t>N</a:t>
                </a:r>
                <a:r>
                  <a:rPr lang="en-US" sz="1600" baseline="-25000" dirty="0"/>
                  <a:t>k</a:t>
                </a:r>
                <a:r>
                  <a:rPr lang="en-US" sz="1600" dirty="0"/>
                  <a:t>=6</a:t>
                </a:r>
              </a:p>
              <a:p>
                <a:pPr lvl="1"/>
                <a:r>
                  <a:rPr lang="en-US" sz="1600" dirty="0"/>
                  <a:t>Kita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i="1" dirty="0"/>
                  <a:t>Y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melambangkan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</a:t>
                </a:r>
                <a:r>
                  <a:rPr lang="en-US" sz="1600" i="1" dirty="0"/>
                  <a:t>outcome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model </a:t>
                </a:r>
                <a:r>
                  <a:rPr lang="en-US" sz="1600" dirty="0" err="1"/>
                  <a:t>kita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sehingga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dataset, </a:t>
                </a:r>
                <a:r>
                  <a:rPr lang="en-US" sz="1600" i="1" dirty="0"/>
                  <a:t>Y </a:t>
                </a:r>
                <a:r>
                  <a:rPr lang="en-US" sz="1600" dirty="0" err="1"/>
                  <a:t>adalah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tingkat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konsentrasi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sedangkan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kita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notasi</a:t>
                </a:r>
                <a:r>
                  <a:rPr lang="en-US" sz="1600" dirty="0"/>
                  <a:t> </a:t>
                </a:r>
                <a:r>
                  <a:rPr lang="en-US" sz="1600" i="1" dirty="0"/>
                  <a:t>Y</a:t>
                </a:r>
                <a:r>
                  <a:rPr lang="en-US" sz="1600" baseline="-25000" dirty="0"/>
                  <a:t>ik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melambangkan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tingkat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konsentrasi</a:t>
                </a:r>
                <a:r>
                  <a:rPr lang="en-US" sz="1600" dirty="0"/>
                  <a:t> orang </a:t>
                </a:r>
                <a:r>
                  <a:rPr lang="en-US" sz="1600" dirty="0" err="1"/>
                  <a:t>ke-</a:t>
                </a:r>
                <a:r>
                  <a:rPr lang="en-US" sz="1600" i="1" dirty="0" err="1"/>
                  <a:t>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 </a:t>
                </a:r>
                <a:r>
                  <a:rPr lang="en-US" sz="1600" i="1" dirty="0"/>
                  <a:t>k.</a:t>
                </a:r>
              </a:p>
              <a:p>
                <a:pPr lvl="1"/>
                <a:r>
                  <a:rPr lang="en-US" sz="1600" dirty="0" err="1"/>
                  <a:t>Selanjutnya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kita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:r>
                  <a:rPr lang="en-US" sz="1600" i="1" dirty="0"/>
                  <a:t>Ȳ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sebagai</a:t>
                </a:r>
                <a:r>
                  <a:rPr lang="en-US" sz="1600" dirty="0"/>
                  <a:t> </a:t>
                </a:r>
                <a:r>
                  <a:rPr lang="en-US" sz="1600" i="1" dirty="0"/>
                  <a:t>mean </a:t>
                </a:r>
                <a:r>
                  <a:rPr lang="en-US" sz="1600" dirty="0" err="1"/>
                  <a:t>tingkat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konsentrasi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seluruh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sampel</a:t>
                </a:r>
                <a:r>
                  <a:rPr lang="en-US" sz="1600" dirty="0"/>
                  <a:t> (18 orang) dan </a:t>
                </a:r>
                <a:r>
                  <a:rPr lang="en-US" sz="1600" i="1" dirty="0"/>
                  <a:t>Ȳ</a:t>
                </a:r>
                <a:r>
                  <a:rPr lang="en-US" sz="1600" baseline="-25000" dirty="0"/>
                  <a:t>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sebagai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notasi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melambangkan</a:t>
                </a:r>
                <a:r>
                  <a:rPr lang="en-US" sz="1600" dirty="0"/>
                  <a:t> </a:t>
                </a:r>
                <a:r>
                  <a:rPr lang="en-US" sz="1600" i="1" dirty="0"/>
                  <a:t>mean </a:t>
                </a:r>
                <a:r>
                  <a:rPr lang="en-US" sz="1600" dirty="0" err="1"/>
                  <a:t>tingkat</a:t>
                </a:r>
                <a:r>
                  <a:rPr lang="en-US" sz="1600" i="1" dirty="0"/>
                  <a:t> </a:t>
                </a:r>
                <a:r>
                  <a:rPr lang="en-US" sz="1600" dirty="0" err="1"/>
                  <a:t>konsentrasi</a:t>
                </a:r>
                <a:r>
                  <a:rPr lang="en-US" sz="1600" dirty="0"/>
                  <a:t>  6 orang </a:t>
                </a:r>
                <a:r>
                  <a:rPr lang="en-US" sz="1600" dirty="0" err="1"/>
                  <a:t>dalam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kelompok</a:t>
                </a:r>
                <a:r>
                  <a:rPr lang="en-US" sz="1600" dirty="0"/>
                  <a:t> </a:t>
                </a:r>
                <a:r>
                  <a:rPr lang="en-US" sz="1600" i="1" dirty="0"/>
                  <a:t>k.</a:t>
                </a:r>
              </a:p>
              <a:p>
                <a:r>
                  <a:rPr lang="en-US" sz="2000" dirty="0" err="1"/>
                  <a:t>Sehingga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varians</a:t>
                </a:r>
                <a:r>
                  <a:rPr lang="en-US" sz="2000" dirty="0"/>
                  <a:t> </a:t>
                </a:r>
                <a:r>
                  <a:rPr lang="en-US" sz="2000" i="1" dirty="0"/>
                  <a:t>Y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: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𝑌𝑖𝑘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Ȳ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Ide </a:t>
                </a:r>
                <a:r>
                  <a:rPr lang="en-US" sz="2000" dirty="0" err="1"/>
                  <a:t>dasar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dalam</a:t>
                </a:r>
                <a:r>
                  <a:rPr lang="en-US" sz="2000" dirty="0"/>
                  <a:t> formula </a:t>
                </a:r>
                <a:r>
                  <a:rPr lang="en-US" sz="2000" dirty="0" err="1"/>
                  <a:t>ini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mengkalkulasi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varians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(</a:t>
                </a:r>
                <a:r>
                  <a:rPr lang="en-US" sz="2000" i="1" dirty="0"/>
                  <a:t>k</a:t>
                </a:r>
                <a:r>
                  <a:rPr lang="en-US" sz="2000" dirty="0"/>
                  <a:t>) dan </a:t>
                </a:r>
                <a:r>
                  <a:rPr lang="en-US" sz="2000" dirty="0" err="1"/>
                  <a:t>varians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masing-masing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individu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dalam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(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  <a:blipFill>
                <a:blip r:embed="rId3"/>
                <a:stretch>
                  <a:fillRect l="-500" t="-809" r="-500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47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1192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2947"/>
                <a:ext cx="10972800" cy="4525963"/>
              </a:xfrm>
            </p:spPr>
            <p:txBody>
              <a:bodyPr/>
              <a:lstStyle/>
              <a:p>
                <a:r>
                  <a:rPr lang="en-US" sz="2000" dirty="0"/>
                  <a:t>Selanjutnya,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harus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mengkalkulasi</a:t>
                </a:r>
                <a:r>
                  <a:rPr lang="en-US" sz="2000" dirty="0"/>
                  <a:t> </a:t>
                </a:r>
                <a:r>
                  <a:rPr lang="en-US" sz="2000" i="1" dirty="0"/>
                  <a:t>total sum of squares </a:t>
                </a:r>
                <a:r>
                  <a:rPr lang="en-US" sz="2000" dirty="0"/>
                  <a:t>yang </a:t>
                </a:r>
                <a:r>
                  <a:rPr lang="en-US" sz="2000" dirty="0" err="1"/>
                  <a:t>merupakan</a:t>
                </a:r>
                <a:r>
                  <a:rPr lang="en-US" sz="2000" dirty="0"/>
                  <a:t> </a:t>
                </a:r>
                <a:r>
                  <a:rPr lang="en-US" sz="2000" i="1" dirty="0"/>
                  <a:t>within-group sum of squares </a:t>
                </a:r>
                <a:r>
                  <a:rPr lang="en-US" sz="2000" dirty="0" err="1"/>
                  <a:t>ditambah</a:t>
                </a:r>
                <a:r>
                  <a:rPr lang="en-US" sz="2000" dirty="0"/>
                  <a:t> </a:t>
                </a:r>
                <a:r>
                  <a:rPr lang="en-US" sz="2000" i="1" dirty="0"/>
                  <a:t>between-group sum of squares.</a:t>
                </a:r>
              </a:p>
              <a:p>
                <a:r>
                  <a:rPr lang="en-US" sz="2000" dirty="0" err="1"/>
                  <a:t>Rumusnya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mirip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varians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namun</a:t>
                </a:r>
                <a:r>
                  <a:rPr lang="en-US" sz="2000" dirty="0"/>
                  <a:t> </a:t>
                </a:r>
                <a:r>
                  <a:rPr lang="en-US" sz="2000" i="1" dirty="0"/>
                  <a:t>sum of squares </a:t>
                </a:r>
                <a:r>
                  <a:rPr lang="en-US" sz="2000" dirty="0" err="1"/>
                  <a:t>tidak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perlu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dirata</a:t>
                </a:r>
                <a:r>
                  <a:rPr lang="en-US" sz="2000" dirty="0"/>
                  <a:t>-rata, </a:t>
                </a:r>
                <a:r>
                  <a:rPr lang="en-US" sz="2000" dirty="0" err="1"/>
                  <a:t>cukup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dijumlah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saja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 err="1"/>
                  <a:t>Berikut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rumus</a:t>
                </a:r>
                <a:r>
                  <a:rPr lang="en-US" sz="2000" dirty="0"/>
                  <a:t> </a:t>
                </a:r>
                <a:r>
                  <a:rPr lang="en-US" sz="2000" i="1" dirty="0"/>
                  <a:t>total sum of squares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SStot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𝑆𝑆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𝑌𝑖𝑘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Ȳ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 err="1"/>
                  <a:t>Berikut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rumus</a:t>
                </a:r>
                <a:r>
                  <a:rPr lang="en-US" sz="2000" dirty="0"/>
                  <a:t> </a:t>
                </a:r>
                <a:r>
                  <a:rPr lang="en-US" sz="2000" i="1" dirty="0"/>
                  <a:t>within-group sum of squares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SSw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𝑆𝑆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𝑌𝑖𝑘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Ȳ</m:t>
                          </m:r>
                          <m:r>
                            <a:rPr lang="en-US" sz="2000" b="0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Ȳ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sehingga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membandingkan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skor</a:t>
                </a:r>
                <a:r>
                  <a:rPr lang="en-US" sz="2000" dirty="0"/>
                  <a:t> </a:t>
                </a:r>
                <a:r>
                  <a:rPr lang="en-US" sz="2000" i="1" dirty="0"/>
                  <a:t>Y </a:t>
                </a:r>
                <a:r>
                  <a:rPr lang="en-US" sz="2000" dirty="0" err="1"/>
                  <a:t>individu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</a:t>
                </a:r>
                <a:r>
                  <a:rPr lang="en-US" sz="2000" dirty="0" err="1"/>
                  <a:t>kelompoknya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bukan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</a:t>
                </a:r>
                <a:r>
                  <a:rPr lang="en-US" sz="2000" dirty="0" err="1"/>
                  <a:t>seluruh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sampel</a:t>
                </a:r>
                <a:r>
                  <a:rPr lang="en-US" sz="2000" dirty="0"/>
                  <a:t>. Oleh </a:t>
                </a:r>
                <a:r>
                  <a:rPr lang="en-US" sz="2000" dirty="0" err="1"/>
                  <a:t>karena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itu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SSw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lebih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kecil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daripada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SStot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karena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sekali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mengabaikan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perbedaan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2947"/>
                <a:ext cx="10972800" cy="4525963"/>
              </a:xfrm>
              <a:blipFill>
                <a:blip r:embed="rId3"/>
                <a:stretch>
                  <a:fillRect l="-500" t="-673" b="-9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9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</p:spPr>
            <p:txBody>
              <a:bodyPr/>
              <a:lstStyle/>
              <a:p>
                <a:r>
                  <a:rPr lang="en-US" sz="2000" dirty="0"/>
                  <a:t>Berikut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rumus</a:t>
                </a:r>
                <a:r>
                  <a:rPr lang="en-US" sz="2000" dirty="0"/>
                  <a:t> </a:t>
                </a:r>
                <a:r>
                  <a:rPr lang="en-US" sz="2000" i="1" dirty="0"/>
                  <a:t>between-group sum of squares </a:t>
                </a:r>
                <a:r>
                  <a:rPr lang="en-US" sz="2000" dirty="0"/>
                  <a:t>(SSb)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𝑆𝑆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200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Ȳ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Ȳ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SSb </a:t>
                </a:r>
                <a:r>
                  <a:rPr lang="en-US" sz="2000" dirty="0" err="1"/>
                  <a:t>merupakan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perbandingan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antara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Ȳ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</a:t>
                </a:r>
                <a:r>
                  <a:rPr lang="en-US" sz="2000" dirty="0" err="1"/>
                  <a:t>sampel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Ȳ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Oleh </a:t>
                </a:r>
                <a:r>
                  <a:rPr lang="en-US" sz="2000" dirty="0" err="1"/>
                  <a:t>karena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itu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nilai</a:t>
                </a:r>
                <a:r>
                  <a:rPr lang="en-US" sz="2000" dirty="0"/>
                  <a:t> SSb </a:t>
                </a:r>
                <a:r>
                  <a:rPr lang="en-US" sz="2000" dirty="0" err="1"/>
                  <a:t>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sama</a:t>
                </a:r>
                <a:r>
                  <a:rPr lang="en-US" sz="2000" dirty="0"/>
                  <a:t> pada </a:t>
                </a:r>
                <a:r>
                  <a:rPr lang="en-US" sz="2000" dirty="0" err="1"/>
                  <a:t>satu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observasi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Nah, </a:t>
                </a:r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SStot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tinggal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𝑡𝑜𝑡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𝑆𝑆𝑏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  <a:blipFill>
                <a:blip r:embed="rId3"/>
                <a:stretch>
                  <a:fillRect l="-500" t="-809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EA0F84A-6AA9-4213-A14B-A0FEC93B0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141" y="4191683"/>
            <a:ext cx="6207357" cy="204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7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629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10067"/>
                <a:ext cx="10972800" cy="5232544"/>
              </a:xfrm>
            </p:spPr>
            <p:txBody>
              <a:bodyPr/>
              <a:lstStyle/>
              <a:p>
                <a:r>
                  <a:rPr lang="en-US" sz="2000" dirty="0"/>
                  <a:t>Apabila </a:t>
                </a:r>
                <a:r>
                  <a:rPr lang="en-US" sz="2000" dirty="0" err="1"/>
                  <a:t>hipotesis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penelitian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(H0) </a:t>
                </a:r>
                <a:r>
                  <a:rPr lang="en-US" sz="2000" dirty="0" err="1"/>
                  <a:t>benar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maka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perbedaan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seharusnya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lebih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kecil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daripada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perbedaan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individu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dalam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kelompok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sampel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 err="1"/>
                  <a:t>Sehingga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seharusnya</a:t>
                </a:r>
                <a:r>
                  <a:rPr lang="en-US" sz="2000" dirty="0"/>
                  <a:t> SS</a:t>
                </a:r>
                <a:r>
                  <a:rPr lang="en-US" sz="2000" baseline="-25000" dirty="0"/>
                  <a:t>b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lebih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kecil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daripada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SS</a:t>
                </a:r>
                <a:r>
                  <a:rPr lang="en-US" sz="2000" baseline="-25000" dirty="0" err="1"/>
                  <a:t>w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 err="1"/>
                  <a:t>Namun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perlu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statistik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menguji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hipotesis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lebih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lanjut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yaitu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i="1" dirty="0"/>
                  <a:t>F test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melakukan</a:t>
                </a:r>
                <a:r>
                  <a:rPr lang="en-US" sz="2000" dirty="0"/>
                  <a:t> </a:t>
                </a:r>
                <a:r>
                  <a:rPr lang="en-US" sz="2000" i="1" dirty="0"/>
                  <a:t>F test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harus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i="1" dirty="0"/>
                  <a:t>degree of freedom</a:t>
                </a:r>
                <a:r>
                  <a:rPr lang="en-US" sz="2000" dirty="0"/>
                  <a:t>.</a:t>
                </a:r>
              </a:p>
              <a:p>
                <a:r>
                  <a:rPr lang="en-US" sz="2000" i="1" dirty="0"/>
                  <a:t>Degree of freedom</a:t>
                </a:r>
                <a:r>
                  <a:rPr lang="en-US" sz="2000" dirty="0"/>
                  <a:t> (df) </a:t>
                </a:r>
                <a:r>
                  <a:rPr lang="en-US" sz="2000" dirty="0" err="1"/>
                  <a:t>adalah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jumlah</a:t>
                </a:r>
                <a:r>
                  <a:rPr lang="en-US" sz="2000" dirty="0"/>
                  <a:t> ‘</a:t>
                </a:r>
                <a:r>
                  <a:rPr lang="en-US" sz="2000" dirty="0" err="1"/>
                  <a:t>titik</a:t>
                </a:r>
                <a:r>
                  <a:rPr lang="en-US" sz="2000" dirty="0"/>
                  <a:t> data’ yang </a:t>
                </a:r>
                <a:r>
                  <a:rPr lang="en-US" sz="2000" dirty="0" err="1"/>
                  <a:t>dapat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bervariasi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Dihitung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cara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mengurangi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jumlah</a:t>
                </a:r>
                <a:r>
                  <a:rPr lang="en-US" sz="2000" dirty="0"/>
                  <a:t> ‘</a:t>
                </a:r>
                <a:r>
                  <a:rPr lang="en-US" sz="2000" dirty="0" err="1"/>
                  <a:t>titik</a:t>
                </a:r>
                <a:r>
                  <a:rPr lang="en-US" sz="2000" dirty="0"/>
                  <a:t> data’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‘</a:t>
                </a:r>
                <a:r>
                  <a:rPr lang="en-US" sz="2000" dirty="0" err="1"/>
                  <a:t>determinan</a:t>
                </a:r>
                <a:r>
                  <a:rPr lang="en-US" sz="2000" dirty="0"/>
                  <a:t>/</a:t>
                </a:r>
                <a:r>
                  <a:rPr lang="en-US" sz="2000" i="1" dirty="0"/>
                  <a:t>constraint</a:t>
                </a:r>
                <a:r>
                  <a:rPr lang="en-US" sz="2000" dirty="0"/>
                  <a:t>’ yang </a:t>
                </a:r>
                <a:r>
                  <a:rPr lang="en-US" sz="2000" dirty="0" err="1"/>
                  <a:t>dimiliki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df</a:t>
                </a:r>
                <a:r>
                  <a:rPr lang="en-US" sz="2000" baseline="-25000" dirty="0"/>
                  <a:t>b</a:t>
                </a:r>
                <a:r>
                  <a:rPr lang="en-US" sz="2000" dirty="0"/>
                  <a:t> = </a:t>
                </a:r>
                <a:r>
                  <a:rPr lang="en-US" sz="2000" i="1" dirty="0"/>
                  <a:t>G</a:t>
                </a:r>
                <a:r>
                  <a:rPr lang="en-US" sz="2000" dirty="0"/>
                  <a:t>-1 (numerator)</a:t>
                </a:r>
              </a:p>
              <a:p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df</a:t>
                </a:r>
                <a:r>
                  <a:rPr lang="en-US" sz="2000" baseline="-25000" dirty="0" err="1"/>
                  <a:t>w</a:t>
                </a:r>
                <a:r>
                  <a:rPr lang="en-US" sz="2000" dirty="0"/>
                  <a:t> = </a:t>
                </a:r>
                <a:r>
                  <a:rPr lang="en-US" sz="2000" i="1" dirty="0"/>
                  <a:t>N</a:t>
                </a:r>
                <a:r>
                  <a:rPr lang="en-US" sz="2000" dirty="0"/>
                  <a:t>-</a:t>
                </a:r>
                <a:r>
                  <a:rPr lang="en-US" sz="2000" i="1" dirty="0"/>
                  <a:t>G </a:t>
                </a:r>
                <a:r>
                  <a:rPr lang="en-US" sz="2000" dirty="0"/>
                  <a:t>(denominator)</a:t>
                </a:r>
              </a:p>
              <a:p>
                <a:r>
                  <a:rPr lang="en-US" sz="2000" dirty="0"/>
                  <a:t>Setelah df </a:t>
                </a:r>
                <a:r>
                  <a:rPr lang="en-US" sz="2000" dirty="0" err="1"/>
                  <a:t>diketahui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dapat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i="1" dirty="0"/>
                  <a:t>mean square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yaitu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𝑀𝑆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2000" b="0" i="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000" b="0" i="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𝑀𝑆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10067"/>
                <a:ext cx="10972800" cy="5232544"/>
              </a:xfrm>
              <a:blipFill>
                <a:blip r:embed="rId3"/>
                <a:stretch>
                  <a:fillRect l="-500" t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07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Cara </a:t>
            </a:r>
            <a:r>
              <a:rPr lang="en-GB" b="1" dirty="0" err="1"/>
              <a:t>kerja</a:t>
            </a:r>
            <a:r>
              <a:rPr lang="en-GB" b="1" dirty="0"/>
              <a:t> ANOVA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</p:spPr>
            <p:txBody>
              <a:bodyPr/>
              <a:lstStyle/>
              <a:p>
                <a:r>
                  <a:rPr lang="en-US" sz="2000" dirty="0"/>
                  <a:t>Terakhir, </a:t>
                </a:r>
                <a:r>
                  <a:rPr lang="en-US" sz="2000" dirty="0" err="1"/>
                  <a:t>untuk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menghitung</a:t>
                </a:r>
                <a:r>
                  <a:rPr lang="en-US" sz="2000" dirty="0"/>
                  <a:t> </a:t>
                </a:r>
                <a:r>
                  <a:rPr lang="en-US" sz="2000" i="1" dirty="0"/>
                  <a:t>F ratio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membagi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MSb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MSw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17638"/>
                <a:ext cx="10972800" cy="4525963"/>
              </a:xfrm>
              <a:blipFill>
                <a:blip r:embed="rId3"/>
                <a:stretch>
                  <a:fillRect l="-500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AA22342-3E81-4DC7-AE14-83EE288B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93" y="3158621"/>
            <a:ext cx="9940531" cy="251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6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 err="1"/>
              <a:t>jamovi</a:t>
            </a:r>
            <a:endParaRPr lang="en-GB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17638"/>
            <a:ext cx="6614160" cy="4525963"/>
          </a:xfrm>
        </p:spPr>
        <p:txBody>
          <a:bodyPr/>
          <a:lstStyle/>
          <a:p>
            <a:r>
              <a:rPr lang="en-US" sz="2000" dirty="0" err="1"/>
              <a:t>Klik</a:t>
            </a:r>
            <a:r>
              <a:rPr lang="en-US" sz="2000" dirty="0"/>
              <a:t> </a:t>
            </a:r>
            <a:r>
              <a:rPr lang="en-US" sz="2000" i="1" u="sng" dirty="0"/>
              <a:t>ANOVA</a:t>
            </a:r>
            <a:r>
              <a:rPr lang="en-US" sz="2000" dirty="0"/>
              <a:t>, </a:t>
            </a:r>
            <a:r>
              <a:rPr lang="en-US" sz="2000" dirty="0" err="1"/>
              <a:t>kemudian</a:t>
            </a:r>
            <a:r>
              <a:rPr lang="en-US" sz="2000" dirty="0"/>
              <a:t> </a:t>
            </a:r>
            <a:r>
              <a:rPr lang="en-US" sz="2000" i="1" u="sng" dirty="0"/>
              <a:t>ANOVA</a:t>
            </a:r>
            <a:r>
              <a:rPr lang="en-US" sz="2000" dirty="0"/>
              <a:t>.</a:t>
            </a:r>
          </a:p>
          <a:p>
            <a:r>
              <a:rPr lang="en-US" sz="2000" dirty="0"/>
              <a:t>Masukkan </a:t>
            </a:r>
            <a:r>
              <a:rPr lang="en-US" sz="2000" b="1" dirty="0" err="1"/>
              <a:t>konsentrasi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u="sng" dirty="0"/>
              <a:t>variables</a:t>
            </a:r>
            <a:r>
              <a:rPr lang="en-US" sz="2000" dirty="0"/>
              <a:t> dan </a:t>
            </a:r>
            <a:r>
              <a:rPr lang="en-US" sz="2000" b="1" dirty="0" err="1"/>
              <a:t>obat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u="sng" dirty="0"/>
              <a:t>grouping variable</a:t>
            </a:r>
            <a:r>
              <a:rPr lang="en-US" sz="2000" dirty="0"/>
              <a:t>.</a:t>
            </a:r>
          </a:p>
          <a:p>
            <a:r>
              <a:rPr lang="en-US" sz="2000" dirty="0"/>
              <a:t>Pada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i="1" u="sng" dirty="0"/>
              <a:t>effect sizes</a:t>
            </a:r>
            <a:r>
              <a:rPr lang="en-US" sz="2000" dirty="0"/>
              <a:t>, </a:t>
            </a:r>
            <a:r>
              <a:rPr lang="en-US" sz="2000" dirty="0" err="1"/>
              <a:t>centang</a:t>
            </a:r>
            <a:r>
              <a:rPr lang="en-US" sz="2000" dirty="0"/>
              <a:t> </a:t>
            </a:r>
            <a:r>
              <a:rPr lang="el-GR" sz="2000" dirty="0"/>
              <a:t>η</a:t>
            </a:r>
            <a:r>
              <a:rPr lang="en-US" sz="2000" baseline="30000" dirty="0"/>
              <a:t>2</a:t>
            </a:r>
            <a:r>
              <a:rPr lang="en-US" sz="2000" dirty="0"/>
              <a:t> dan </a:t>
            </a:r>
            <a:r>
              <a:rPr lang="el-GR" sz="2000" dirty="0"/>
              <a:t>ω</a:t>
            </a:r>
            <a:r>
              <a:rPr lang="en-US" sz="2000" baseline="30000" dirty="0"/>
              <a:t>2</a:t>
            </a:r>
          </a:p>
          <a:p>
            <a:r>
              <a:rPr lang="en-US" sz="2000" dirty="0"/>
              <a:t>Pada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i="1" u="sng" dirty="0"/>
              <a:t>assumption checks</a:t>
            </a:r>
            <a:r>
              <a:rPr lang="en-US" sz="2000" dirty="0"/>
              <a:t>, </a:t>
            </a:r>
            <a:r>
              <a:rPr lang="en-US" sz="2000" dirty="0" err="1"/>
              <a:t>centang</a:t>
            </a:r>
            <a:r>
              <a:rPr lang="en-US" sz="2000" dirty="0"/>
              <a:t> </a:t>
            </a:r>
            <a:r>
              <a:rPr lang="en-US" sz="2000" i="1" u="sng" dirty="0"/>
              <a:t>homogeneity test</a:t>
            </a:r>
            <a:r>
              <a:rPr lang="en-US" sz="2000" dirty="0"/>
              <a:t> dan </a:t>
            </a:r>
            <a:r>
              <a:rPr lang="en-US" sz="2000" i="1" u="sng" dirty="0"/>
              <a:t>Q-Q plot of residuals</a:t>
            </a:r>
          </a:p>
          <a:p>
            <a:r>
              <a:rPr lang="en-US" sz="2000" dirty="0"/>
              <a:t>Pada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i="1" u="sng" dirty="0"/>
              <a:t>post-hoc test</a:t>
            </a:r>
            <a:r>
              <a:rPr lang="en-US" sz="2000" dirty="0"/>
              <a:t>, </a:t>
            </a:r>
            <a:r>
              <a:rPr lang="en-US" sz="2000" dirty="0" err="1"/>
              <a:t>centang</a:t>
            </a:r>
            <a:r>
              <a:rPr lang="en-US" sz="2000" dirty="0"/>
              <a:t> </a:t>
            </a:r>
            <a:r>
              <a:rPr lang="en-US" sz="2000" i="1" u="sng" dirty="0"/>
              <a:t>Tukey</a:t>
            </a:r>
            <a:r>
              <a:rPr lang="en-US" sz="2000" dirty="0"/>
              <a:t> dan </a:t>
            </a:r>
            <a:r>
              <a:rPr lang="en-US" sz="2000" i="1" u="sng" dirty="0"/>
              <a:t>Bonferroni</a:t>
            </a:r>
          </a:p>
        </p:txBody>
      </p:sp>
      <p:pic>
        <p:nvPicPr>
          <p:cNvPr id="1026" name="Picture 2" descr="Image result for anova meme">
            <a:extLst>
              <a:ext uri="{FF2B5EF4-FFF2-40B4-BE49-F238E27FC236}">
                <a16:creationId xmlns:a16="http://schemas.microsoft.com/office/drawing/2014/main" id="{27A73A1F-AF67-4A49-8D49-BC8B96821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614" y="1417638"/>
            <a:ext cx="4106834" cy="325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15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 err="1"/>
              <a:t>Interpretasi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17638"/>
            <a:ext cx="5708073" cy="4525963"/>
          </a:xfrm>
        </p:spPr>
        <p:txBody>
          <a:bodyPr/>
          <a:lstStyle/>
          <a:p>
            <a:r>
              <a:rPr lang="en-US" sz="2000" i="1" dirty="0" err="1"/>
              <a:t>Jamovi</a:t>
            </a:r>
            <a:r>
              <a:rPr lang="en-US" sz="2000" i="1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istilah</a:t>
            </a:r>
            <a:r>
              <a:rPr lang="en-US" sz="2000" dirty="0"/>
              <a:t> yang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mudah</a:t>
            </a:r>
            <a:r>
              <a:rPr lang="en-US" sz="2000" dirty="0"/>
              <a:t> </a:t>
            </a:r>
            <a:r>
              <a:rPr lang="en-US" sz="2000" dirty="0" err="1"/>
              <a:t>diinterpretasi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Perhatikan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dirty="0"/>
              <a:t>sum of squares. </a:t>
            </a:r>
            <a:r>
              <a:rPr lang="en-US" sz="2000" dirty="0" err="1"/>
              <a:t>Baris</a:t>
            </a:r>
            <a:r>
              <a:rPr lang="en-US" sz="2000" dirty="0"/>
              <a:t> </a:t>
            </a:r>
            <a:r>
              <a:rPr lang="en-US" sz="2000" b="1" dirty="0" err="1"/>
              <a:t>obat</a:t>
            </a:r>
            <a:r>
              <a:rPr lang="en-US" sz="2000" b="1" i="1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SS</a:t>
            </a:r>
            <a:r>
              <a:rPr lang="en-US" sz="2000" baseline="-25000" dirty="0"/>
              <a:t>b</a:t>
            </a:r>
            <a:r>
              <a:rPr lang="en-US" sz="2000" dirty="0"/>
              <a:t>, </a:t>
            </a:r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b="1" i="1" dirty="0"/>
              <a:t>residuals</a:t>
            </a:r>
            <a:r>
              <a:rPr lang="en-US" sz="2000" i="1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SS</a:t>
            </a:r>
            <a:r>
              <a:rPr lang="en-US" sz="2000" baseline="-25000" dirty="0" err="1"/>
              <a:t>w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</a:t>
            </a:r>
            <a:r>
              <a:rPr lang="en-US" sz="2000" dirty="0" err="1"/>
              <a:t>disamping</a:t>
            </a:r>
            <a:r>
              <a:rPr lang="en-US" sz="2000" dirty="0"/>
              <a:t>,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konsentrasi</a:t>
            </a:r>
            <a:r>
              <a:rPr lang="en-US" sz="2000" dirty="0"/>
              <a:t> pada </a:t>
            </a:r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berbeda</a:t>
            </a:r>
            <a:r>
              <a:rPr lang="en-US" sz="2000" dirty="0"/>
              <a:t> dan </a:t>
            </a:r>
            <a:r>
              <a:rPr lang="en-US" sz="2000" i="1" dirty="0"/>
              <a:t>meaningful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statistik</a:t>
            </a:r>
            <a:r>
              <a:rPr lang="en-US" sz="2000" dirty="0"/>
              <a:t> (</a:t>
            </a:r>
            <a:r>
              <a:rPr lang="en-US" sz="2000" i="1" dirty="0"/>
              <a:t>F</a:t>
            </a:r>
            <a:r>
              <a:rPr lang="en-US" sz="2000" dirty="0"/>
              <a:t>(2, 15)=18.6, </a:t>
            </a:r>
            <a:r>
              <a:rPr lang="en-US" sz="2000" dirty="0" err="1"/>
              <a:t>nilai</a:t>
            </a:r>
            <a:r>
              <a:rPr lang="en-US" sz="2000" dirty="0"/>
              <a:t> p&lt;.001)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derajat</a:t>
            </a:r>
            <a:r>
              <a:rPr lang="en-US" sz="2000" dirty="0"/>
              <a:t> </a:t>
            </a:r>
            <a:r>
              <a:rPr lang="en-US" sz="2000" dirty="0" err="1"/>
              <a:t>perbedaan</a:t>
            </a:r>
            <a:r>
              <a:rPr lang="en-US" sz="2000" dirty="0"/>
              <a:t> yang </a:t>
            </a:r>
            <a:r>
              <a:rPr lang="en-US" sz="2000" dirty="0" err="1"/>
              <a:t>cukup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(</a:t>
            </a:r>
            <a:r>
              <a:rPr lang="el-GR" sz="2000" dirty="0"/>
              <a:t>η</a:t>
            </a:r>
            <a:r>
              <a:rPr lang="en-US" sz="2000" baseline="30000" dirty="0"/>
              <a:t>2</a:t>
            </a:r>
            <a:r>
              <a:rPr lang="en-US" sz="2000" dirty="0"/>
              <a:t>=0.713, </a:t>
            </a:r>
            <a:r>
              <a:rPr lang="el-GR" sz="2000" dirty="0"/>
              <a:t>ω</a:t>
            </a:r>
            <a:r>
              <a:rPr lang="en-US" sz="2000" baseline="30000" dirty="0"/>
              <a:t>2</a:t>
            </a:r>
            <a:r>
              <a:rPr lang="en-US" sz="2000" dirty="0"/>
              <a:t>=0.662).</a:t>
            </a:r>
          </a:p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mengukur</a:t>
            </a:r>
            <a:r>
              <a:rPr lang="en-US" sz="2000" dirty="0"/>
              <a:t> ES, </a:t>
            </a:r>
            <a:r>
              <a:rPr lang="en-US" sz="2000" dirty="0" err="1"/>
              <a:t>kebanyakan</a:t>
            </a:r>
            <a:r>
              <a:rPr lang="en-US" sz="2000" dirty="0"/>
              <a:t> </a:t>
            </a:r>
            <a:r>
              <a:rPr lang="en-US" sz="2000" i="1" dirty="0"/>
              <a:t>software </a:t>
            </a:r>
            <a:r>
              <a:rPr lang="en-US" sz="2000" dirty="0" err="1"/>
              <a:t>statistik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l-GR" sz="2000" dirty="0"/>
              <a:t>η</a:t>
            </a:r>
            <a:r>
              <a:rPr lang="en-US" sz="2000" baseline="30000" dirty="0"/>
              <a:t>2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i="1" dirty="0"/>
              <a:t>default</a:t>
            </a:r>
            <a:r>
              <a:rPr lang="en-US" sz="2000" dirty="0"/>
              <a:t>,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l-GR" sz="2000" dirty="0"/>
              <a:t>ω</a:t>
            </a:r>
            <a:r>
              <a:rPr lang="en-US" sz="2000" baseline="30000" dirty="0"/>
              <a:t>2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disarankan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l-GR" sz="2000" dirty="0"/>
              <a:t>η</a:t>
            </a:r>
            <a:r>
              <a:rPr lang="en-US" sz="2000" baseline="30000" dirty="0"/>
              <a:t>2 </a:t>
            </a:r>
            <a:r>
              <a:rPr lang="en-US" sz="2000" dirty="0" err="1"/>
              <a:t>cenderung</a:t>
            </a:r>
            <a:r>
              <a:rPr lang="en-US" sz="2000" dirty="0"/>
              <a:t> bias.</a:t>
            </a:r>
          </a:p>
          <a:p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tahu</a:t>
            </a:r>
            <a:r>
              <a:rPr lang="en-US" sz="2000" dirty="0"/>
              <a:t> mana </a:t>
            </a:r>
            <a:r>
              <a:rPr lang="en-US" sz="2000" dirty="0" err="1"/>
              <a:t>kelompok</a:t>
            </a:r>
            <a:r>
              <a:rPr lang="en-US" sz="2000" dirty="0"/>
              <a:t> yang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konsentrasinya</a:t>
            </a:r>
            <a:r>
              <a:rPr lang="en-US" sz="2000" dirty="0"/>
              <a:t> </a:t>
            </a:r>
            <a:r>
              <a:rPr lang="en-US" sz="2000" dirty="0" err="1"/>
              <a:t>tertinggi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terendah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>
                <a:sym typeface="Wingdings" panose="05000000000000000000" pitchFamily="2" charset="2"/>
              </a:rPr>
              <a:t>lakukan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i="1" dirty="0">
                <a:sym typeface="Wingdings" panose="05000000000000000000" pitchFamily="2" charset="2"/>
              </a:rPr>
              <a:t>post-hoc test.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445FC-AD6F-4B14-95B3-D141B1C33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633" y="1753850"/>
            <a:ext cx="5631526" cy="13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2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Post-hoc test </a:t>
            </a:r>
            <a:r>
              <a:rPr lang="en-GB" b="1" dirty="0"/>
              <a:t>(1)</a:t>
            </a:r>
            <a:endParaRPr lang="en-GB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7121236" cy="2165147"/>
          </a:xfrm>
        </p:spPr>
        <p:txBody>
          <a:bodyPr/>
          <a:lstStyle/>
          <a:p>
            <a:r>
              <a:rPr lang="en-US" sz="2000" dirty="0" err="1"/>
              <a:t>Sebenarnya</a:t>
            </a:r>
            <a:r>
              <a:rPr lang="en-US" sz="2000" dirty="0"/>
              <a:t>, H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bercabang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3</a:t>
            </a:r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p</a:t>
            </a:r>
            <a:r>
              <a:rPr lang="en-US" sz="1600" baseline="-25000" dirty="0"/>
              <a:t> </a:t>
            </a:r>
            <a:r>
              <a:rPr lang="en-US" sz="1600" dirty="0"/>
              <a:t>= </a:t>
            </a:r>
            <a:r>
              <a:rPr lang="en-US" sz="1600" dirty="0" err="1"/>
              <a:t>μ</a:t>
            </a:r>
            <a:r>
              <a:rPr lang="en-US" sz="1600" baseline="-25000" dirty="0" err="1"/>
              <a:t>m</a:t>
            </a:r>
            <a:endParaRPr lang="en-US" sz="1600" baseline="-25000" dirty="0"/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p</a:t>
            </a:r>
            <a:r>
              <a:rPr lang="en-US" sz="1600" baseline="-25000" dirty="0"/>
              <a:t> </a:t>
            </a:r>
            <a:r>
              <a:rPr lang="en-US" sz="1600" dirty="0"/>
              <a:t>= </a:t>
            </a:r>
            <a:r>
              <a:rPr lang="en-US" sz="1600" dirty="0" err="1"/>
              <a:t>μ</a:t>
            </a:r>
            <a:r>
              <a:rPr lang="en-US" sz="1600" baseline="-25000" dirty="0" err="1"/>
              <a:t>f</a:t>
            </a:r>
            <a:endParaRPr lang="en-US" sz="1600" baseline="-25000" dirty="0"/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m</a:t>
            </a:r>
            <a:r>
              <a:rPr lang="en-US" sz="1600" dirty="0"/>
              <a:t> = </a:t>
            </a:r>
            <a:r>
              <a:rPr lang="en-US" sz="1600" dirty="0" err="1"/>
              <a:t>μ</a:t>
            </a:r>
            <a:r>
              <a:rPr lang="en-US" sz="1600" baseline="-25000" dirty="0" err="1"/>
              <a:t>f</a:t>
            </a:r>
            <a:endParaRPr lang="en-US" sz="1600" baseline="-25000" dirty="0"/>
          </a:p>
          <a:p>
            <a:r>
              <a:rPr lang="en-US" sz="2000" dirty="0" err="1"/>
              <a:t>Kalau</a:t>
            </a:r>
            <a:r>
              <a:rPr lang="en-US" sz="2000" dirty="0"/>
              <a:t> </a:t>
            </a:r>
            <a:r>
              <a:rPr lang="en-US" sz="2000" dirty="0" err="1"/>
              <a:t>mau</a:t>
            </a:r>
            <a:r>
              <a:rPr lang="en-US" sz="2000" dirty="0"/>
              <a:t> </a:t>
            </a:r>
            <a:r>
              <a:rPr lang="en-US" sz="2000" dirty="0" err="1"/>
              <a:t>menolak</a:t>
            </a:r>
            <a:r>
              <a:rPr lang="en-US" sz="2000" dirty="0"/>
              <a:t> H</a:t>
            </a:r>
            <a:r>
              <a:rPr lang="en-US" sz="2000" baseline="-25000" dirty="0"/>
              <a:t>0</a:t>
            </a:r>
            <a:r>
              <a:rPr lang="en-US" sz="2000" dirty="0"/>
              <a:t>, H</a:t>
            </a:r>
            <a:r>
              <a:rPr lang="en-US" sz="2000" baseline="-25000" dirty="0"/>
              <a:t>0</a:t>
            </a:r>
            <a:r>
              <a:rPr lang="en-US" sz="2000" dirty="0"/>
              <a:t> mana yang </a:t>
            </a:r>
            <a:r>
              <a:rPr lang="en-US" sz="2000" dirty="0" err="1"/>
              <a:t>ditolak</a:t>
            </a:r>
            <a:r>
              <a:rPr lang="en-US" sz="2000" dirty="0"/>
              <a:t>?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mengetahui</a:t>
            </a:r>
            <a:r>
              <a:rPr lang="en-US" sz="2000" dirty="0"/>
              <a:t> </a:t>
            </a:r>
            <a:r>
              <a:rPr lang="en-US" sz="2000" dirty="0" err="1"/>
              <a:t>hal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,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i="1" dirty="0"/>
              <a:t>post-hoc test.</a:t>
            </a:r>
            <a:endParaRPr lang="en-US" sz="2000" dirty="0"/>
          </a:p>
        </p:txBody>
      </p:sp>
      <p:pic>
        <p:nvPicPr>
          <p:cNvPr id="2050" name="Picture 2" descr="Image result for post-hoc test meme">
            <a:extLst>
              <a:ext uri="{FF2B5EF4-FFF2-40B4-BE49-F238E27FC236}">
                <a16:creationId xmlns:a16="http://schemas.microsoft.com/office/drawing/2014/main" id="{378F0C9D-8318-4A76-811B-9293E7BFE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883" y="617912"/>
            <a:ext cx="4644044" cy="464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107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Post-hoc test </a:t>
            </a:r>
            <a:r>
              <a:rPr lang="en-GB" b="1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415230-27A9-4119-8583-78ABE1812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714022"/>
              </p:ext>
            </p:extLst>
          </p:nvPr>
        </p:nvGraphicFramePr>
        <p:xfrm>
          <a:off x="609599" y="1421794"/>
          <a:ext cx="9573490" cy="437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698">
                  <a:extLst>
                    <a:ext uri="{9D8B030D-6E8A-4147-A177-3AD203B41FA5}">
                      <a16:colId xmlns:a16="http://schemas.microsoft.com/office/drawing/2014/main" val="2615669495"/>
                    </a:ext>
                  </a:extLst>
                </a:gridCol>
                <a:gridCol w="1914698">
                  <a:extLst>
                    <a:ext uri="{9D8B030D-6E8A-4147-A177-3AD203B41FA5}">
                      <a16:colId xmlns:a16="http://schemas.microsoft.com/office/drawing/2014/main" val="1442177506"/>
                    </a:ext>
                  </a:extLst>
                </a:gridCol>
                <a:gridCol w="1914698">
                  <a:extLst>
                    <a:ext uri="{9D8B030D-6E8A-4147-A177-3AD203B41FA5}">
                      <a16:colId xmlns:a16="http://schemas.microsoft.com/office/drawing/2014/main" val="2975650471"/>
                    </a:ext>
                  </a:extLst>
                </a:gridCol>
                <a:gridCol w="1914698">
                  <a:extLst>
                    <a:ext uri="{9D8B030D-6E8A-4147-A177-3AD203B41FA5}">
                      <a16:colId xmlns:a16="http://schemas.microsoft.com/office/drawing/2014/main" val="2861295610"/>
                    </a:ext>
                  </a:extLst>
                </a:gridCol>
                <a:gridCol w="1914698">
                  <a:extLst>
                    <a:ext uri="{9D8B030D-6E8A-4147-A177-3AD203B41FA5}">
                      <a16:colId xmlns:a16="http://schemas.microsoft.com/office/drawing/2014/main" val="3232697476"/>
                    </a:ext>
                  </a:extLst>
                </a:gridCol>
              </a:tblGrid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Kemungkinan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p</a:t>
                      </a:r>
                      <a:r>
                        <a:rPr lang="en-US" sz="1800" baseline="-25000" dirty="0"/>
                        <a:t> </a:t>
                      </a:r>
                      <a:r>
                        <a:rPr lang="en-US" sz="1800" dirty="0"/>
                        <a:t>= </a:t>
                      </a: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m</a:t>
                      </a:r>
                      <a:endParaRPr lang="en-US" sz="18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p</a:t>
                      </a:r>
                      <a:r>
                        <a:rPr lang="en-US" sz="1800" baseline="-25000" dirty="0"/>
                        <a:t> </a:t>
                      </a:r>
                      <a:r>
                        <a:rPr lang="en-US" sz="1800" dirty="0"/>
                        <a:t>= </a:t>
                      </a: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f</a:t>
                      </a:r>
                      <a:endParaRPr lang="en-US" sz="18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μ</a:t>
                      </a:r>
                      <a:r>
                        <a:rPr lang="en-US" sz="1800" baseline="-25000" dirty="0" err="1"/>
                        <a:t>f</a:t>
                      </a:r>
                      <a:endParaRPr lang="en-US" sz="18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Mendukung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Hipotesis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00139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04545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953162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98941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118413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496797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373021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482964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</a:t>
                      </a:r>
                      <a:r>
                        <a:rPr lang="en-US" baseline="-25000" dirty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3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38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Post-hoc test </a:t>
            </a:r>
            <a:r>
              <a:rPr lang="en-GB" b="1" dirty="0"/>
              <a:t>(3)</a:t>
            </a:r>
            <a:endParaRPr lang="en-GB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6414655" cy="4525963"/>
          </a:xfrm>
        </p:spPr>
        <p:txBody>
          <a:bodyPr/>
          <a:lstStyle/>
          <a:p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post-hoc test</a:t>
            </a:r>
            <a:r>
              <a:rPr lang="en-US" sz="2000" dirty="0"/>
              <a:t>, </a:t>
            </a:r>
            <a:r>
              <a:rPr lang="en-US" sz="2000" dirty="0" err="1"/>
              <a:t>prinsipnya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i="1" dirty="0"/>
              <a:t>t-test</a:t>
            </a:r>
            <a:r>
              <a:rPr lang="en-US" sz="2000" dirty="0"/>
              <a:t> yang </a:t>
            </a:r>
            <a:r>
              <a:rPr lang="en-US" sz="2000" dirty="0" err="1"/>
              <a:t>berbeda</a:t>
            </a:r>
            <a:r>
              <a:rPr lang="en-US" sz="2000" dirty="0"/>
              <a:t>.</a:t>
            </a:r>
          </a:p>
          <a:p>
            <a:r>
              <a:rPr lang="en-US" sz="2000" dirty="0"/>
              <a:t>Kita </a:t>
            </a:r>
            <a:r>
              <a:rPr lang="en-US" sz="2000" dirty="0" err="1"/>
              <a:t>boleh</a:t>
            </a:r>
            <a:r>
              <a:rPr lang="en-US" sz="2000" dirty="0"/>
              <a:t> </a:t>
            </a:r>
            <a:r>
              <a:rPr lang="en-US" sz="2000" dirty="0" err="1"/>
              <a:t>saja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post-hoc test</a:t>
            </a:r>
            <a:r>
              <a:rPr lang="en-US" sz="2000" dirty="0"/>
              <a:t>, 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hati-hati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i="1" dirty="0" err="1"/>
              <a:t>nature</a:t>
            </a:r>
            <a:r>
              <a:rPr lang="en-US" sz="2000" dirty="0" err="1"/>
              <a:t>nya</a:t>
            </a:r>
            <a:r>
              <a:rPr lang="en-US" sz="2000" dirty="0"/>
              <a:t> yang </a:t>
            </a:r>
            <a:r>
              <a:rPr lang="en-US" sz="2000" dirty="0" err="1"/>
              <a:t>cenderung</a:t>
            </a:r>
            <a:r>
              <a:rPr lang="en-US" sz="2000" dirty="0"/>
              <a:t> </a:t>
            </a:r>
            <a:r>
              <a:rPr lang="en-US" sz="2000" i="1" dirty="0"/>
              <a:t>exploratory.</a:t>
            </a:r>
            <a:endParaRPr lang="en-US" sz="2000" dirty="0"/>
          </a:p>
          <a:p>
            <a:r>
              <a:rPr lang="en-US" sz="2000" i="1" dirty="0"/>
              <a:t>Post-hoc test</a:t>
            </a:r>
            <a:r>
              <a:rPr lang="en-US" sz="2000" dirty="0"/>
              <a:t> </a:t>
            </a:r>
            <a:r>
              <a:rPr lang="en-US" sz="2000" dirty="0" err="1"/>
              <a:t>boleh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asalkan</a:t>
            </a:r>
            <a:r>
              <a:rPr lang="en-US" sz="2000" dirty="0"/>
              <a:t> </a:t>
            </a:r>
            <a:r>
              <a:rPr lang="en-US" sz="2000" dirty="0" err="1"/>
              <a:t>memang</a:t>
            </a:r>
            <a:r>
              <a:rPr lang="en-US" sz="2000" dirty="0"/>
              <a:t> </a:t>
            </a:r>
            <a:r>
              <a:rPr lang="en-US" sz="2000" dirty="0" err="1"/>
              <a:t>hipotesis</a:t>
            </a:r>
            <a:r>
              <a:rPr lang="en-US" sz="2000" dirty="0"/>
              <a:t>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ditentukan</a:t>
            </a:r>
            <a:r>
              <a:rPr lang="en-US" sz="2000" dirty="0"/>
              <a:t> </a:t>
            </a:r>
            <a:r>
              <a:rPr lang="en-US" sz="2000" dirty="0" err="1"/>
              <a:t>sejak</a:t>
            </a:r>
            <a:r>
              <a:rPr lang="en-US" sz="2000" dirty="0"/>
              <a:t> </a:t>
            </a:r>
            <a:r>
              <a:rPr lang="en-US" sz="2000" dirty="0" err="1"/>
              <a:t>awal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Koreksi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i="1" dirty="0"/>
              <a:t>p-value</a:t>
            </a:r>
            <a:r>
              <a:rPr lang="en-US" sz="2000" dirty="0"/>
              <a:t>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kalau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t-test </a:t>
            </a:r>
            <a:r>
              <a:rPr lang="en-US" sz="2000" dirty="0" err="1"/>
              <a:t>berulang-ulang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probabilitas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i="1" dirty="0"/>
              <a:t>p-value </a:t>
            </a:r>
            <a:r>
              <a:rPr lang="en-US" sz="2000" dirty="0"/>
              <a:t>yang </a:t>
            </a:r>
            <a:r>
              <a:rPr lang="en-US" sz="2000" dirty="0" err="1"/>
              <a:t>signifikan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semakin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(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i="1" dirty="0"/>
              <a:t>type 1 error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meningkat</a:t>
            </a:r>
            <a:r>
              <a:rPr lang="en-US" sz="2000" dirty="0"/>
              <a:t> – </a:t>
            </a:r>
            <a:r>
              <a:rPr lang="en-US" sz="2000" dirty="0" err="1"/>
              <a:t>temuan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cenderung</a:t>
            </a:r>
            <a:r>
              <a:rPr lang="en-US" sz="2000" dirty="0"/>
              <a:t> </a:t>
            </a:r>
            <a:r>
              <a:rPr lang="en-US" sz="2000" i="1" dirty="0"/>
              <a:t>false positive</a:t>
            </a:r>
            <a:r>
              <a:rPr lang="en-US" sz="2000" dirty="0"/>
              <a:t>).</a:t>
            </a:r>
          </a:p>
          <a:p>
            <a:r>
              <a:rPr lang="en-US" sz="2000" dirty="0"/>
              <a:t>Yang paling </a:t>
            </a:r>
            <a:r>
              <a:rPr lang="en-US" sz="2000" dirty="0" err="1"/>
              <a:t>sering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i="1" dirty="0"/>
              <a:t>Bonferroni correction</a:t>
            </a:r>
            <a:r>
              <a:rPr lang="en-US" sz="2000" dirty="0"/>
              <a:t>, yang </a:t>
            </a:r>
            <a:r>
              <a:rPr lang="en-US" sz="2000" dirty="0" err="1"/>
              <a:t>rumusnya</a:t>
            </a:r>
            <a:r>
              <a:rPr lang="en-US" sz="2000" dirty="0"/>
              <a:t> </a:t>
            </a:r>
            <a:r>
              <a:rPr lang="en-US" sz="2000" dirty="0" err="1"/>
              <a:t>sangat</a:t>
            </a:r>
            <a:r>
              <a:rPr lang="en-US" sz="2000" dirty="0"/>
              <a:t> </a:t>
            </a:r>
            <a:r>
              <a:rPr lang="en-US" sz="2000" dirty="0" err="1"/>
              <a:t>sederhana</a:t>
            </a:r>
            <a:r>
              <a:rPr lang="en-US" sz="2000" dirty="0"/>
              <a:t>,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  <a:r>
              <a:rPr lang="en-US" sz="2000" dirty="0" err="1"/>
              <a:t>mengalikan</a:t>
            </a:r>
            <a:r>
              <a:rPr lang="en-US" sz="2000" dirty="0"/>
              <a:t> </a:t>
            </a:r>
            <a:r>
              <a:rPr lang="en-US" sz="2000" i="1" dirty="0"/>
              <a:t>p-value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</a:t>
            </a:r>
            <a:r>
              <a:rPr lang="en-US" sz="2000" dirty="0" err="1"/>
              <a:t>tes</a:t>
            </a:r>
            <a:r>
              <a:rPr lang="en-US" sz="2000" dirty="0"/>
              <a:t>.</a:t>
            </a:r>
          </a:p>
        </p:txBody>
      </p:sp>
      <p:pic>
        <p:nvPicPr>
          <p:cNvPr id="3074" name="Picture 2" descr="Image result for bonferroni meme">
            <a:extLst>
              <a:ext uri="{FF2B5EF4-FFF2-40B4-BE49-F238E27FC236}">
                <a16:creationId xmlns:a16="http://schemas.microsoft.com/office/drawing/2014/main" id="{303D6AD9-D8D5-4149-863D-897CEEA26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255" y="1046709"/>
            <a:ext cx="4648777" cy="476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033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 err="1"/>
              <a:t>Melaporkan</a:t>
            </a:r>
            <a:r>
              <a:rPr lang="en-GB" b="1" dirty="0"/>
              <a:t> </a:t>
            </a:r>
            <a:r>
              <a:rPr lang="en-GB" b="1" i="1" dirty="0"/>
              <a:t>post-hoc test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5034742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Post-hoc test </a:t>
            </a:r>
            <a:r>
              <a:rPr lang="en-US" sz="2000" dirty="0"/>
              <a:t>yang </a:t>
            </a:r>
            <a:r>
              <a:rPr lang="en-US" sz="2000" dirty="0" err="1"/>
              <a:t>dilakukan</a:t>
            </a:r>
            <a:r>
              <a:rPr lang="en-US" sz="2000" dirty="0"/>
              <a:t> oleh </a:t>
            </a:r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teknik</a:t>
            </a:r>
            <a:r>
              <a:rPr lang="en-US" sz="2000" dirty="0"/>
              <a:t> </a:t>
            </a:r>
            <a:r>
              <a:rPr lang="en-US" sz="2000" i="1" dirty="0"/>
              <a:t>Bonferroni correction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menyesuaikan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p, </a:t>
            </a:r>
            <a:r>
              <a:rPr lang="en-US" sz="2000" dirty="0" err="1"/>
              <a:t>menunjukkan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flungalih</a:t>
            </a:r>
            <a:r>
              <a:rPr lang="en-US" sz="2000" dirty="0"/>
              <a:t> </a:t>
            </a:r>
            <a:r>
              <a:rPr lang="en-US" sz="2000" dirty="0" err="1"/>
              <a:t>menyebabkan</a:t>
            </a:r>
            <a:r>
              <a:rPr lang="en-US" sz="2000" dirty="0"/>
              <a:t> </a:t>
            </a:r>
            <a:r>
              <a:rPr lang="en-US" sz="2000" dirty="0" err="1"/>
              <a:t>peningkatan</a:t>
            </a:r>
            <a:r>
              <a:rPr lang="en-US" sz="2000" dirty="0"/>
              <a:t> </a:t>
            </a:r>
            <a:r>
              <a:rPr lang="en-US" sz="2000" dirty="0" err="1"/>
              <a:t>konsentrasi</a:t>
            </a:r>
            <a:r>
              <a:rPr lang="en-US" sz="2000" dirty="0"/>
              <a:t> </a:t>
            </a:r>
            <a:r>
              <a:rPr lang="en-US" sz="2000" dirty="0" err="1"/>
              <a:t>pasien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influenza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drastis</a:t>
            </a:r>
            <a:r>
              <a:rPr lang="en-US" sz="2000" dirty="0"/>
              <a:t> </a:t>
            </a:r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dibandingkan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placebo (</a:t>
            </a:r>
            <a:r>
              <a:rPr lang="en-US" sz="2000" i="1" dirty="0"/>
              <a:t>mean difference</a:t>
            </a:r>
            <a:r>
              <a:rPr lang="en-US" sz="2000" dirty="0"/>
              <a:t>=-1.033, </a:t>
            </a:r>
            <a:r>
              <a:rPr lang="en-US" sz="2000" i="1" dirty="0"/>
              <a:t>SE</a:t>
            </a:r>
            <a:r>
              <a:rPr lang="en-US" sz="2000" dirty="0"/>
              <a:t>=0.176, </a:t>
            </a:r>
            <a:r>
              <a:rPr lang="en-US" sz="2000" dirty="0" err="1"/>
              <a:t>nilai</a:t>
            </a:r>
            <a:r>
              <a:rPr lang="en-US" sz="2000" dirty="0"/>
              <a:t> p&lt;.001)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dibandingkan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mixagrip</a:t>
            </a:r>
            <a:r>
              <a:rPr lang="en-US" sz="2000" dirty="0"/>
              <a:t> (</a:t>
            </a:r>
            <a:r>
              <a:rPr lang="en-US" sz="2000" i="1" dirty="0"/>
              <a:t>mean difference</a:t>
            </a:r>
            <a:r>
              <a:rPr lang="en-US" sz="2000" dirty="0"/>
              <a:t>=-0.767, </a:t>
            </a:r>
            <a:r>
              <a:rPr lang="en-US" sz="2000" i="1" dirty="0"/>
              <a:t>SE</a:t>
            </a:r>
            <a:r>
              <a:rPr lang="en-US" sz="2000" dirty="0"/>
              <a:t>=0.176, </a:t>
            </a:r>
            <a:r>
              <a:rPr lang="en-US" sz="2000" dirty="0" err="1"/>
              <a:t>nilai</a:t>
            </a:r>
            <a:r>
              <a:rPr lang="en-US" sz="2000" dirty="0"/>
              <a:t> p=.002).</a:t>
            </a:r>
            <a:endParaRPr lang="en-US" sz="20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FF436-30A4-413D-833C-64341B67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39" y="1540033"/>
            <a:ext cx="6234076" cy="194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67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/>
              <a:t>Uji </a:t>
            </a:r>
            <a:r>
              <a:rPr lang="en-GB" b="1" dirty="0" err="1"/>
              <a:t>asumsi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6414655" cy="4525963"/>
          </a:xfrm>
        </p:spPr>
        <p:txBody>
          <a:bodyPr/>
          <a:lstStyle/>
          <a:p>
            <a:r>
              <a:rPr lang="en-US" sz="2000" dirty="0" err="1"/>
              <a:t>Normalitas</a:t>
            </a:r>
            <a:endParaRPr lang="en-US" sz="2000" dirty="0"/>
          </a:p>
          <a:p>
            <a:pPr lvl="1"/>
            <a:r>
              <a:rPr lang="en-US" sz="1600" dirty="0" err="1"/>
              <a:t>Jangan</a:t>
            </a:r>
            <a:r>
              <a:rPr lang="en-US" sz="1600" dirty="0"/>
              <a:t> </a:t>
            </a:r>
            <a:r>
              <a:rPr lang="en-US" sz="1600" dirty="0" err="1"/>
              <a:t>lupa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: H0: </a:t>
            </a:r>
            <a:r>
              <a:rPr lang="en-US" sz="1600" dirty="0" err="1"/>
              <a:t>Y</a:t>
            </a:r>
            <a:r>
              <a:rPr lang="en-US" sz="1600" baseline="-25000" dirty="0" err="1"/>
              <a:t>ik</a:t>
            </a:r>
            <a:r>
              <a:rPr lang="en-US" sz="1600" dirty="0"/>
              <a:t> = μ +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sz="1600" baseline="-25000" dirty="0" err="1"/>
              <a:t>ik</a:t>
            </a:r>
            <a:r>
              <a:rPr lang="en-US" sz="1600" dirty="0"/>
              <a:t> dan Ha: </a:t>
            </a:r>
            <a:r>
              <a:rPr lang="en-US" sz="1600" dirty="0" err="1"/>
              <a:t>Y</a:t>
            </a:r>
            <a:r>
              <a:rPr lang="en-US" sz="1600" baseline="-25000" dirty="0" err="1"/>
              <a:t>ik</a:t>
            </a:r>
            <a:r>
              <a:rPr lang="en-US" sz="1600" dirty="0"/>
              <a:t> = </a:t>
            </a:r>
            <a:r>
              <a:rPr lang="en-US" sz="1600" dirty="0" err="1"/>
              <a:t>μk</a:t>
            </a:r>
            <a:r>
              <a:rPr lang="en-US" sz="1600" dirty="0"/>
              <a:t> +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sz="1600" baseline="-25000" dirty="0" err="1"/>
              <a:t>ik</a:t>
            </a:r>
            <a:endParaRPr lang="en-US" sz="1600" dirty="0"/>
          </a:p>
          <a:p>
            <a:pPr lvl="1"/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ANOVA,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ingin</a:t>
            </a:r>
            <a:r>
              <a:rPr lang="en-US" sz="1600" dirty="0"/>
              <a:t> </a:t>
            </a:r>
            <a:r>
              <a:rPr lang="en-US" sz="1600" dirty="0" err="1"/>
              <a:t>tahu</a:t>
            </a:r>
            <a:r>
              <a:rPr lang="en-US" sz="1600" dirty="0"/>
              <a:t>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varians</a:t>
            </a:r>
            <a:r>
              <a:rPr lang="en-US" sz="1600" dirty="0"/>
              <a:t> Y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diestimasi</a:t>
            </a:r>
            <a:r>
              <a:rPr lang="en-US" sz="1600" dirty="0"/>
              <a:t> oleh </a:t>
            </a:r>
            <a:r>
              <a:rPr lang="en-US" sz="1600" i="1" dirty="0"/>
              <a:t>mean </a:t>
            </a:r>
            <a:r>
              <a:rPr lang="en-US" sz="1600" dirty="0" err="1"/>
              <a:t>kelompok</a:t>
            </a:r>
            <a:r>
              <a:rPr lang="en-US" sz="1600" dirty="0"/>
              <a:t> </a:t>
            </a:r>
            <a:r>
              <a:rPr lang="en-US" sz="1600" dirty="0" err="1"/>
              <a:t>sampel</a:t>
            </a:r>
            <a:r>
              <a:rPr lang="en-US" sz="1600" dirty="0"/>
              <a:t> (μ)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i="1" dirty="0"/>
              <a:t>mean </a:t>
            </a:r>
            <a:r>
              <a:rPr lang="en-US" sz="1600" dirty="0" err="1"/>
              <a:t>kelompok</a:t>
            </a:r>
            <a:r>
              <a:rPr lang="en-US" sz="1600" dirty="0"/>
              <a:t> </a:t>
            </a:r>
            <a:r>
              <a:rPr lang="en-US" sz="1600" dirty="0" err="1"/>
              <a:t>observasi</a:t>
            </a:r>
            <a:r>
              <a:rPr lang="en-US" sz="1600" dirty="0"/>
              <a:t> (μ</a:t>
            </a:r>
            <a:r>
              <a:rPr lang="en-US" sz="1600" baseline="-25000" dirty="0"/>
              <a:t>ik</a:t>
            </a:r>
            <a:r>
              <a:rPr lang="en-US" sz="1600" dirty="0"/>
              <a:t>)</a:t>
            </a:r>
          </a:p>
          <a:p>
            <a:pPr lvl="1"/>
            <a:r>
              <a:rPr lang="en-US" sz="1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sz="1600" b="1" u="sng" baseline="-25000" dirty="0" err="1"/>
              <a:t>ik</a:t>
            </a:r>
            <a:r>
              <a:rPr lang="en-US" sz="1600" b="1" u="sng" dirty="0"/>
              <a:t> </a:t>
            </a:r>
            <a:r>
              <a:rPr lang="en-US" sz="1600" b="1" u="sng" dirty="0" err="1"/>
              <a:t>disini</a:t>
            </a:r>
            <a:r>
              <a:rPr lang="en-US" sz="1600" b="1" u="sng" dirty="0"/>
              <a:t> </a:t>
            </a:r>
            <a:r>
              <a:rPr lang="en-US" sz="1600" b="1" u="sng" dirty="0" err="1"/>
              <a:t>harus</a:t>
            </a:r>
            <a:r>
              <a:rPr lang="en-US" sz="1600" b="1" u="sng" dirty="0"/>
              <a:t> </a:t>
            </a:r>
            <a:r>
              <a:rPr lang="en-US" sz="1600" b="1" u="sng" dirty="0" err="1"/>
              <a:t>berdistribusi</a:t>
            </a:r>
            <a:r>
              <a:rPr lang="en-US" sz="1600" b="1" u="sng" dirty="0"/>
              <a:t> normal </a:t>
            </a:r>
            <a:r>
              <a:rPr lang="en-US" sz="1600" dirty="0"/>
              <a:t>(</a:t>
            </a:r>
            <a:r>
              <a:rPr lang="en-US" sz="1600" dirty="0" err="1"/>
              <a:t>konsekuensi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i="1" dirty="0"/>
              <a:t>F test</a:t>
            </a:r>
            <a:r>
              <a:rPr lang="en-US" sz="1600" dirty="0"/>
              <a:t>)</a:t>
            </a:r>
          </a:p>
          <a:p>
            <a:pPr lvl="1"/>
            <a:r>
              <a:rPr lang="en-US" sz="1600" dirty="0" err="1"/>
              <a:t>Gunakan</a:t>
            </a:r>
            <a:r>
              <a:rPr lang="en-US" sz="1600" dirty="0"/>
              <a:t> Q-Q plot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mendeteksi</a:t>
            </a:r>
            <a:r>
              <a:rPr lang="en-US" sz="1600" dirty="0"/>
              <a:t> </a:t>
            </a:r>
            <a:r>
              <a:rPr lang="en-US" sz="1600" b="1" u="sng" dirty="0" err="1"/>
              <a:t>normalitas</a:t>
            </a:r>
            <a:r>
              <a:rPr lang="en-US" sz="1600" b="1" u="sng" dirty="0"/>
              <a:t> residual</a:t>
            </a:r>
          </a:p>
          <a:p>
            <a:r>
              <a:rPr lang="en-US" sz="2000" dirty="0" err="1"/>
              <a:t>Homogenitas</a:t>
            </a:r>
            <a:r>
              <a:rPr lang="en-US" sz="2000" dirty="0"/>
              <a:t> </a:t>
            </a:r>
            <a:r>
              <a:rPr lang="en-US" sz="2000" dirty="0" err="1"/>
              <a:t>varians</a:t>
            </a:r>
            <a:endParaRPr lang="en-US" sz="2000" dirty="0"/>
          </a:p>
          <a:p>
            <a:pPr lvl="1"/>
            <a:r>
              <a:rPr lang="en-US" sz="1600" dirty="0" err="1"/>
              <a:t>Varians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</a:t>
            </a:r>
            <a:r>
              <a:rPr lang="en-US" sz="1600" dirty="0" err="1"/>
              <a:t>kelompok</a:t>
            </a:r>
            <a:r>
              <a:rPr lang="en-US" sz="1600" dirty="0"/>
              <a:t> </a:t>
            </a:r>
            <a:r>
              <a:rPr lang="en-US" sz="1600" dirty="0" err="1"/>
              <a:t>observasi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homogen</a:t>
            </a:r>
            <a:endParaRPr lang="en-US" sz="1600" dirty="0"/>
          </a:p>
          <a:p>
            <a:pPr lvl="1"/>
            <a:r>
              <a:rPr lang="en-US" sz="1600" dirty="0" err="1"/>
              <a:t>Gunakan</a:t>
            </a:r>
            <a:r>
              <a:rPr lang="en-US" sz="1600" dirty="0"/>
              <a:t> </a:t>
            </a:r>
            <a:r>
              <a:rPr lang="en-US" sz="1600" i="1" dirty="0" err="1"/>
              <a:t>Levene’s</a:t>
            </a:r>
            <a:r>
              <a:rPr lang="en-US" sz="1600" i="1" dirty="0"/>
              <a:t> test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asumsi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endParaRPr lang="en-US" sz="1600" dirty="0"/>
          </a:p>
          <a:p>
            <a:r>
              <a:rPr lang="en-US" sz="2000" dirty="0" err="1"/>
              <a:t>Independensi</a:t>
            </a:r>
            <a:r>
              <a:rPr lang="en-US" sz="2000" dirty="0"/>
              <a:t> residual</a:t>
            </a:r>
          </a:p>
          <a:p>
            <a:pPr lvl="1"/>
            <a:r>
              <a:rPr lang="en-US" sz="1600" dirty="0"/>
              <a:t>Residual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independen</a:t>
            </a:r>
            <a:r>
              <a:rPr lang="en-US" sz="1600" dirty="0"/>
              <a:t> (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berkorelasi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residual yang lain)</a:t>
            </a:r>
          </a:p>
          <a:p>
            <a:pPr lvl="1"/>
            <a:r>
              <a:rPr lang="en-US" sz="1600" dirty="0" err="1"/>
              <a:t>Asumsi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sulit</a:t>
            </a:r>
            <a:r>
              <a:rPr lang="en-US" sz="1600" dirty="0"/>
              <a:t> </a:t>
            </a:r>
            <a:r>
              <a:rPr lang="en-US" sz="1600" dirty="0" err="1"/>
              <a:t>dicek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empirik</a:t>
            </a:r>
            <a:r>
              <a:rPr lang="en-US" sz="1600" dirty="0"/>
              <a:t>, </a:t>
            </a:r>
            <a:r>
              <a:rPr lang="en-US" sz="1600" dirty="0" err="1"/>
              <a:t>namun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dipastikan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terpenuhi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memastikan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partisipan</a:t>
            </a:r>
            <a:r>
              <a:rPr lang="en-US" sz="1600" dirty="0"/>
              <a:t> </a:t>
            </a:r>
            <a:r>
              <a:rPr lang="en-US" sz="1600" dirty="0" err="1"/>
              <a:t>hanya</a:t>
            </a:r>
            <a:r>
              <a:rPr lang="en-US" sz="1600" dirty="0"/>
              <a:t> ‘</a:t>
            </a:r>
            <a:r>
              <a:rPr lang="en-US" sz="1600" dirty="0" err="1"/>
              <a:t>ditempatkan</a:t>
            </a:r>
            <a:r>
              <a:rPr lang="en-US" sz="1600" dirty="0"/>
              <a:t>’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kelompok</a:t>
            </a:r>
            <a:r>
              <a:rPr lang="en-US" sz="1600" dirty="0"/>
              <a:t> </a:t>
            </a:r>
            <a:r>
              <a:rPr lang="en-US" sz="1600" dirty="0" err="1"/>
              <a:t>observasi</a:t>
            </a:r>
            <a:r>
              <a:rPr lang="en-US" sz="1600" dirty="0"/>
              <a:t>.</a:t>
            </a:r>
          </a:p>
        </p:txBody>
      </p:sp>
      <p:pic>
        <p:nvPicPr>
          <p:cNvPr id="5122" name="Picture 2" descr="Image result for assumption statistics meme">
            <a:extLst>
              <a:ext uri="{FF2B5EF4-FFF2-40B4-BE49-F238E27FC236}">
                <a16:creationId xmlns:a16="http://schemas.microsoft.com/office/drawing/2014/main" id="{F5738B83-1860-4635-83AA-33EDAF42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919" y="1660604"/>
            <a:ext cx="4694526" cy="262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668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 err="1"/>
              <a:t>Normalitas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5857702" cy="4525963"/>
          </a:xfrm>
        </p:spPr>
        <p:txBody>
          <a:bodyPr/>
          <a:lstStyle/>
          <a:p>
            <a:r>
              <a:rPr lang="en-US" sz="2000" dirty="0"/>
              <a:t>Q-Q plot </a:t>
            </a:r>
            <a:r>
              <a:rPr lang="en-US" sz="2000" dirty="0" err="1"/>
              <a:t>disamping</a:t>
            </a:r>
            <a:r>
              <a:rPr lang="en-US" sz="2000" dirty="0"/>
              <a:t> </a:t>
            </a:r>
            <a:r>
              <a:rPr lang="en-US" sz="2000" dirty="0" err="1"/>
              <a:t>menunjukkan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residual </a:t>
            </a:r>
            <a:r>
              <a:rPr lang="en-US" sz="2000" dirty="0" err="1"/>
              <a:t>berdistribusi</a:t>
            </a:r>
            <a:r>
              <a:rPr lang="en-US" sz="2000" dirty="0"/>
              <a:t> normal,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asumsi</a:t>
            </a:r>
            <a:r>
              <a:rPr lang="en-US" sz="2000" dirty="0"/>
              <a:t> </a:t>
            </a:r>
            <a:r>
              <a:rPr lang="en-US" sz="2000" dirty="0" err="1"/>
              <a:t>normalitas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dipenuhi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asumsi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dilanggar</a:t>
            </a:r>
            <a:r>
              <a:rPr lang="en-US" sz="2000" dirty="0"/>
              <a:t>,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b="1" i="1" dirty="0"/>
              <a:t>Kruskal-Wallis test</a:t>
            </a:r>
            <a:r>
              <a:rPr lang="en-US" sz="2000" b="1" dirty="0"/>
              <a:t>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CBC3F-1909-4727-9DC8-7ED4C2438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6" y="1417638"/>
            <a:ext cx="4966235" cy="449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7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dirty="0" err="1"/>
              <a:t>Homogenitas</a:t>
            </a:r>
            <a:r>
              <a:rPr lang="en-GB" b="1" dirty="0"/>
              <a:t> </a:t>
            </a:r>
            <a:r>
              <a:rPr lang="en-GB" b="1" dirty="0" err="1"/>
              <a:t>varians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5550131" cy="4525963"/>
          </a:xfrm>
        </p:spPr>
        <p:txBody>
          <a:bodyPr/>
          <a:lstStyle/>
          <a:p>
            <a:r>
              <a:rPr lang="en-US" sz="2000" dirty="0"/>
              <a:t>Dari </a:t>
            </a:r>
            <a:r>
              <a:rPr lang="en-US" sz="2000" dirty="0" err="1"/>
              <a:t>tabel</a:t>
            </a:r>
            <a:r>
              <a:rPr lang="en-US" sz="2000" dirty="0"/>
              <a:t> </a:t>
            </a:r>
            <a:r>
              <a:rPr lang="en-US" sz="2000" dirty="0" err="1"/>
              <a:t>disamping</a:t>
            </a:r>
            <a:r>
              <a:rPr lang="en-US" sz="2000" dirty="0"/>
              <a:t> </a:t>
            </a:r>
            <a:r>
              <a:rPr lang="en-US" sz="2000" dirty="0" err="1"/>
              <a:t>diketahui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asumsi</a:t>
            </a:r>
            <a:r>
              <a:rPr lang="en-US" sz="2000" dirty="0"/>
              <a:t> </a:t>
            </a:r>
            <a:r>
              <a:rPr lang="en-US" sz="2000" dirty="0" err="1"/>
              <a:t>homogenitas</a:t>
            </a:r>
            <a:r>
              <a:rPr lang="en-US" sz="2000" dirty="0"/>
              <a:t> </a:t>
            </a:r>
            <a:r>
              <a:rPr lang="en-US" sz="2000" dirty="0" err="1"/>
              <a:t>terpenuhi</a:t>
            </a:r>
            <a:r>
              <a:rPr lang="en-US" sz="2000" dirty="0"/>
              <a:t> (</a:t>
            </a:r>
            <a:r>
              <a:rPr lang="en-US" sz="2000" i="1" dirty="0"/>
              <a:t>F</a:t>
            </a:r>
            <a:r>
              <a:rPr lang="en-US" sz="2000" dirty="0"/>
              <a:t>(2, 5)=1.45, </a:t>
            </a:r>
            <a:r>
              <a:rPr lang="en-US" sz="2000" dirty="0" err="1"/>
              <a:t>nilai</a:t>
            </a:r>
            <a:r>
              <a:rPr lang="en-US" sz="2000" dirty="0"/>
              <a:t> p=.266).</a:t>
            </a:r>
          </a:p>
          <a:p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asumsi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dipenuhi</a:t>
            </a:r>
            <a:r>
              <a:rPr lang="en-US" sz="2000" dirty="0"/>
              <a:t>, </a:t>
            </a:r>
            <a:r>
              <a:rPr lang="en-US" sz="2000" dirty="0" err="1"/>
              <a:t>gunakan</a:t>
            </a:r>
            <a:r>
              <a:rPr lang="en-US" sz="2000" dirty="0"/>
              <a:t> </a:t>
            </a:r>
            <a:r>
              <a:rPr lang="en-US" sz="2000" b="1" i="1" dirty="0"/>
              <a:t>Welch (W) test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66EAED-7226-4762-A855-0AAEA26B4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187" y="1417638"/>
            <a:ext cx="3761756" cy="132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65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A priori power analysis </a:t>
            </a:r>
            <a:r>
              <a:rPr lang="en-GB" b="1" dirty="0"/>
              <a:t>(1)</a:t>
            </a:r>
            <a:endParaRPr lang="en-GB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eksperimen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obat</a:t>
            </a:r>
            <a:r>
              <a:rPr lang="en-US" sz="2000" dirty="0"/>
              <a:t> </a:t>
            </a:r>
            <a:r>
              <a:rPr lang="en-US" sz="2000" dirty="0" err="1"/>
              <a:t>sariawan</a:t>
            </a:r>
            <a:r>
              <a:rPr lang="en-US" sz="2000" dirty="0"/>
              <a:t> </a:t>
            </a:r>
            <a:r>
              <a:rPr lang="en-US" sz="2000" dirty="0" err="1"/>
              <a:t>baru</a:t>
            </a:r>
            <a:r>
              <a:rPr lang="en-US" sz="2000" dirty="0"/>
              <a:t> </a:t>
            </a:r>
            <a:r>
              <a:rPr lang="en-US" sz="2000" dirty="0" err="1"/>
              <a:t>ciptaannya</a:t>
            </a:r>
            <a:r>
              <a:rPr lang="en-US" sz="2000" dirty="0"/>
              <a:t> (</a:t>
            </a:r>
            <a:r>
              <a:rPr lang="en-US" sz="2000" dirty="0" err="1"/>
              <a:t>nosar</a:t>
            </a:r>
            <a:r>
              <a:rPr lang="en-US" sz="2000" dirty="0"/>
              <a:t>) dan </a:t>
            </a:r>
            <a:r>
              <a:rPr lang="en-US" sz="2000" dirty="0" err="1"/>
              <a:t>ia</a:t>
            </a:r>
            <a:r>
              <a:rPr lang="en-US" sz="2000" dirty="0"/>
              <a:t> 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membandingkannya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placebo dan </a:t>
            </a:r>
            <a:r>
              <a:rPr lang="en-US" sz="2000" dirty="0" err="1"/>
              <a:t>albothyl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mengukur</a:t>
            </a:r>
            <a:r>
              <a:rPr lang="en-US" sz="2000" dirty="0"/>
              <a:t> </a:t>
            </a:r>
            <a:r>
              <a:rPr lang="en-US" sz="2000" dirty="0" err="1"/>
              <a:t>efektivitas</a:t>
            </a:r>
            <a:r>
              <a:rPr lang="en-US" sz="2000" dirty="0"/>
              <a:t> </a:t>
            </a:r>
            <a:r>
              <a:rPr lang="en-US" sz="2000" dirty="0" err="1"/>
              <a:t>obat</a:t>
            </a:r>
            <a:r>
              <a:rPr lang="en-US" sz="2000" dirty="0"/>
              <a:t>, </a:t>
            </a:r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mengukur</a:t>
            </a:r>
            <a:r>
              <a:rPr lang="en-US" sz="2000" dirty="0"/>
              <a:t>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keparahan</a:t>
            </a:r>
            <a:r>
              <a:rPr lang="en-US" sz="2000" dirty="0"/>
              <a:t> </a:t>
            </a:r>
            <a:r>
              <a:rPr lang="en-US" sz="2000" dirty="0" err="1"/>
              <a:t>sariawan</a:t>
            </a:r>
            <a:r>
              <a:rPr lang="en-US" sz="2000" dirty="0"/>
              <a:t>, yang </a:t>
            </a:r>
            <a:r>
              <a:rPr lang="en-US" sz="2000" dirty="0" err="1"/>
              <a:t>berkisar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0 (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sariawan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sekali</a:t>
            </a:r>
            <a:r>
              <a:rPr lang="en-US" sz="2000" dirty="0"/>
              <a:t>) s/d 5 (</a:t>
            </a:r>
            <a:r>
              <a:rPr lang="en-US" sz="2000" dirty="0" err="1"/>
              <a:t>sariawan</a:t>
            </a:r>
            <a:r>
              <a:rPr lang="en-US" sz="2000" dirty="0"/>
              <a:t> </a:t>
            </a:r>
            <a:r>
              <a:rPr lang="en-US" sz="2000" dirty="0" err="1"/>
              <a:t>sangat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).</a:t>
            </a:r>
          </a:p>
          <a:p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memperkirakan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 yang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nosar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1.4, </a:t>
            </a:r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 yang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albothyl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2.1, </a:t>
            </a:r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kelompok</a:t>
            </a:r>
            <a:r>
              <a:rPr lang="en-US" sz="2000" dirty="0"/>
              <a:t> placebo </a:t>
            </a:r>
            <a:r>
              <a:rPr lang="en-US" sz="2000" dirty="0" err="1"/>
              <a:t>adalah</a:t>
            </a:r>
            <a:r>
              <a:rPr lang="en-US" sz="2000" dirty="0"/>
              <a:t> 3.5.</a:t>
            </a:r>
          </a:p>
          <a:p>
            <a:r>
              <a:rPr lang="en-US" sz="2000" dirty="0" err="1"/>
              <a:t>Maka</a:t>
            </a:r>
            <a:r>
              <a:rPr lang="en-US" sz="2000" dirty="0"/>
              <a:t>, </a:t>
            </a:r>
            <a:r>
              <a:rPr lang="en-US" sz="2000" dirty="0" err="1"/>
              <a:t>berapa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</a:t>
            </a:r>
            <a:r>
              <a:rPr lang="en-US" sz="2000" dirty="0" err="1"/>
              <a:t>sampel</a:t>
            </a:r>
            <a:r>
              <a:rPr lang="en-US" sz="2000" dirty="0"/>
              <a:t> yang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diambil</a:t>
            </a:r>
            <a:r>
              <a:rPr lang="en-US" sz="2000" dirty="0"/>
              <a:t> </a:t>
            </a:r>
            <a:r>
              <a:rPr lang="en-US" sz="2000" dirty="0" err="1"/>
              <a:t>Ferguso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asumsi</a:t>
            </a:r>
            <a:r>
              <a:rPr lang="en-US" sz="2000" dirty="0"/>
              <a:t> </a:t>
            </a:r>
            <a:r>
              <a:rPr lang="en-US" sz="2000" i="1" dirty="0"/>
              <a:t>power </a:t>
            </a:r>
            <a:r>
              <a:rPr lang="en-US" sz="2000" dirty="0" err="1"/>
              <a:t>sebesar</a:t>
            </a:r>
            <a:r>
              <a:rPr lang="en-US" sz="2000" dirty="0"/>
              <a:t> 80% dan </a:t>
            </a:r>
            <a:r>
              <a:rPr lang="en-US" sz="2000" i="1" dirty="0"/>
              <a:t>alpha </a:t>
            </a:r>
            <a:r>
              <a:rPr lang="en-US" sz="2000" dirty="0" err="1"/>
              <a:t>sebesar</a:t>
            </a:r>
            <a:r>
              <a:rPr lang="en-US" sz="2000" dirty="0"/>
              <a:t> 5%?</a:t>
            </a:r>
          </a:p>
          <a:p>
            <a:r>
              <a:rPr lang="en-US" sz="2000" dirty="0" err="1"/>
              <a:t>Dalam</a:t>
            </a:r>
            <a:r>
              <a:rPr lang="en-US" sz="2000" dirty="0"/>
              <a:t> G*Power, pada </a:t>
            </a:r>
            <a:r>
              <a:rPr lang="en-US" sz="2000" dirty="0" err="1"/>
              <a:t>opsi</a:t>
            </a:r>
            <a:r>
              <a:rPr lang="en-US" sz="2000" dirty="0"/>
              <a:t> </a:t>
            </a:r>
            <a:r>
              <a:rPr lang="en-US" sz="2000" i="1" u="sng" dirty="0"/>
              <a:t>test family </a:t>
            </a:r>
            <a:r>
              <a:rPr lang="en-US" sz="2000" dirty="0" err="1"/>
              <a:t>pilih</a:t>
            </a:r>
            <a:r>
              <a:rPr lang="en-US" sz="2000" dirty="0"/>
              <a:t> </a:t>
            </a:r>
            <a:r>
              <a:rPr lang="en-US" sz="2000" i="1" u="sng" dirty="0"/>
              <a:t>F tests</a:t>
            </a:r>
            <a:r>
              <a:rPr lang="en-US" sz="2000" dirty="0"/>
              <a:t>. Pada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i="1" u="sng" dirty="0"/>
              <a:t>statistical test</a:t>
            </a:r>
            <a:r>
              <a:rPr lang="en-US" sz="2000" dirty="0"/>
              <a:t> </a:t>
            </a:r>
            <a:r>
              <a:rPr lang="en-US" sz="2000" dirty="0" err="1"/>
              <a:t>pilih</a:t>
            </a:r>
            <a:r>
              <a:rPr lang="en-US" sz="2000" dirty="0"/>
              <a:t> </a:t>
            </a:r>
            <a:r>
              <a:rPr lang="en-US" sz="2000" i="1" u="sng" dirty="0"/>
              <a:t>ANOVA, fixed effects, omnibus, one-way.</a:t>
            </a:r>
          </a:p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i="1" u="sng" dirty="0"/>
              <a:t>type of power analysis</a:t>
            </a:r>
            <a:r>
              <a:rPr lang="en-US" sz="2000" dirty="0"/>
              <a:t> </a:t>
            </a:r>
            <a:r>
              <a:rPr lang="en-US" sz="2000" dirty="0" err="1"/>
              <a:t>pilih</a:t>
            </a:r>
            <a:r>
              <a:rPr lang="en-US" sz="2000" dirty="0"/>
              <a:t> </a:t>
            </a:r>
            <a:r>
              <a:rPr lang="en-US" sz="2000" i="1" u="sng" dirty="0"/>
              <a:t>a priori.</a:t>
            </a:r>
          </a:p>
          <a:p>
            <a:r>
              <a:rPr lang="en-US" sz="2000" dirty="0"/>
              <a:t>Pada </a:t>
            </a:r>
            <a:r>
              <a:rPr lang="en-US" sz="2000" dirty="0" err="1"/>
              <a:t>baris</a:t>
            </a:r>
            <a:r>
              <a:rPr lang="en-US" sz="2000" dirty="0"/>
              <a:t> </a:t>
            </a:r>
            <a:r>
              <a:rPr lang="en-US" sz="2000" i="1" u="sng" dirty="0"/>
              <a:t>effect size f</a:t>
            </a:r>
            <a:r>
              <a:rPr lang="en-US" sz="2000" dirty="0"/>
              <a:t> </a:t>
            </a:r>
            <a:r>
              <a:rPr lang="en-US" sz="2000" dirty="0" err="1"/>
              <a:t>klik</a:t>
            </a:r>
            <a:r>
              <a:rPr lang="en-US" sz="2000" dirty="0"/>
              <a:t> </a:t>
            </a:r>
            <a:r>
              <a:rPr lang="en-US" sz="2000" i="1" u="sng" dirty="0"/>
              <a:t>determine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isikan</a:t>
            </a:r>
            <a:r>
              <a:rPr lang="en-US" sz="2000" dirty="0"/>
              <a:t> </a:t>
            </a:r>
            <a:r>
              <a:rPr lang="en-US" sz="2000" dirty="0" err="1"/>
              <a:t>angka</a:t>
            </a:r>
            <a:r>
              <a:rPr lang="en-US" sz="2000" dirty="0"/>
              <a:t> 3 pada </a:t>
            </a:r>
            <a:r>
              <a:rPr lang="en-US" sz="2000" i="1" u="sng" dirty="0"/>
              <a:t>number of groups</a:t>
            </a:r>
            <a:r>
              <a:rPr lang="en-US" sz="2000" dirty="0"/>
              <a:t>, </a:t>
            </a:r>
            <a:r>
              <a:rPr lang="en-US" sz="2000" dirty="0" err="1"/>
              <a:t>isikan</a:t>
            </a:r>
            <a:r>
              <a:rPr lang="en-US" sz="2000" dirty="0"/>
              <a:t> </a:t>
            </a:r>
            <a:r>
              <a:rPr lang="en-US" sz="2000" i="1" dirty="0"/>
              <a:t>mean </a:t>
            </a:r>
            <a:r>
              <a:rPr lang="en-US" sz="2000" dirty="0" err="1"/>
              <a:t>masing-masing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dan </a:t>
            </a:r>
            <a:r>
              <a:rPr lang="en-US" sz="2000" dirty="0" err="1"/>
              <a:t>praanggapan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</a:t>
            </a:r>
            <a:r>
              <a:rPr lang="en-US" sz="2000" dirty="0" err="1"/>
              <a:t>sampel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masing-masing</a:t>
            </a:r>
            <a:r>
              <a:rPr lang="en-US" sz="2000" dirty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>
                <a:sym typeface="Wingdings" panose="05000000000000000000" pitchFamily="2" charset="2"/>
              </a:rPr>
              <a:t>bisa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didapat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dari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penelitian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sebelumnya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0376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r>
              <a:rPr lang="en-GB" b="1" i="1" dirty="0"/>
              <a:t>A priori power analysis </a:t>
            </a:r>
            <a:r>
              <a:rPr lang="en-GB" b="1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sz="2000" dirty="0" err="1"/>
              <a:t>Klik</a:t>
            </a:r>
            <a:r>
              <a:rPr lang="en-US" sz="2000" dirty="0"/>
              <a:t> </a:t>
            </a:r>
            <a:r>
              <a:rPr lang="en-US" sz="2000" i="1" u="sng" dirty="0"/>
              <a:t>calculate and transfer to main window</a:t>
            </a:r>
            <a:r>
              <a:rPr lang="en-US" sz="2000" u="sng" dirty="0"/>
              <a:t>.</a:t>
            </a:r>
          </a:p>
          <a:p>
            <a:r>
              <a:rPr lang="en-US" sz="2000" dirty="0" err="1"/>
              <a:t>Isikan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i="1" u="sng" dirty="0"/>
              <a:t>alpha</a:t>
            </a:r>
            <a:r>
              <a:rPr lang="en-US" sz="2000" dirty="0"/>
              <a:t> (0.05) dan </a:t>
            </a:r>
            <a:r>
              <a:rPr lang="en-US" sz="2000" i="1" u="sng" dirty="0"/>
              <a:t>statistical power</a:t>
            </a:r>
            <a:r>
              <a:rPr lang="en-US" sz="2000" dirty="0"/>
              <a:t> (0.8).</a:t>
            </a:r>
          </a:p>
          <a:p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isi</a:t>
            </a:r>
            <a:r>
              <a:rPr lang="en-US" sz="2000" dirty="0"/>
              <a:t> 3 pada </a:t>
            </a:r>
            <a:r>
              <a:rPr lang="en-US" sz="2000" dirty="0" err="1"/>
              <a:t>baris</a:t>
            </a:r>
            <a:r>
              <a:rPr lang="en-US" sz="2000" dirty="0"/>
              <a:t> </a:t>
            </a:r>
            <a:r>
              <a:rPr lang="en-US" sz="2000" i="1" u="sng" dirty="0"/>
              <a:t>number of groups</a:t>
            </a:r>
            <a:r>
              <a:rPr lang="en-US" sz="2000" dirty="0"/>
              <a:t> (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3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observasi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7533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B3A6D-F792-405F-A718-77C4B5FE4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047" y="170728"/>
            <a:ext cx="7328353" cy="571772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9B03C-0CCB-40C8-84FB-072C5B271A33}"/>
              </a:ext>
            </a:extLst>
          </p:cNvPr>
          <p:cNvSpPr txBox="1"/>
          <p:nvPr/>
        </p:nvSpPr>
        <p:spPr>
          <a:xfrm>
            <a:off x="365760" y="1928553"/>
            <a:ext cx="3798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=18,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aseline="-25000" dirty="0"/>
              <a:t>k</a:t>
            </a:r>
            <a:r>
              <a:rPr lang="en-US" dirty="0"/>
              <a:t>=6.</a:t>
            </a:r>
          </a:p>
          <a:p>
            <a:endParaRPr lang="en-US" dirty="0"/>
          </a:p>
          <a:p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i="1" dirty="0"/>
              <a:t>power </a:t>
            </a:r>
            <a:r>
              <a:rPr lang="en-US" i="1" dirty="0" err="1"/>
              <a:t>plot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6895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</p:spPr>
        <p:txBody>
          <a:bodyPr/>
          <a:lstStyle/>
          <a:p>
            <a:pPr algn="l"/>
            <a:endParaRPr lang="en-GB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93BD7-F5AE-4327-A8EC-F7B20DFB0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812" y="-16626"/>
            <a:ext cx="7598256" cy="6279838"/>
          </a:xfrm>
        </p:spPr>
      </p:pic>
    </p:spTree>
    <p:extLst>
      <p:ext uri="{BB962C8B-B14F-4D97-AF65-F5344CB8AC3E}">
        <p14:creationId xmlns:p14="http://schemas.microsoft.com/office/powerpoint/2010/main" val="19045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Image result for thank you cartoon">
            <a:extLst>
              <a:ext uri="{FF2B5EF4-FFF2-40B4-BE49-F238E27FC236}">
                <a16:creationId xmlns:a16="http://schemas.microsoft.com/office/drawing/2014/main" id="{7BD747B6-6CB9-4F52-AAFC-1844FFDB7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2" y="261937"/>
            <a:ext cx="8562975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034763"/>
      </p:ext>
    </p:extLst>
  </p:cSld>
  <p:clrMapOvr>
    <a:masterClrMapping/>
  </p:clrMapOvr>
</p:sld>
</file>

<file path=ppt/theme/theme1.xml><?xml version="1.0" encoding="utf-8"?>
<a:theme xmlns:a="http://schemas.openxmlformats.org/drawingml/2006/main" name="psiunair_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iunair_blue" id="{3C9B8563-235D-4690-93EB-C1E4B836BAD2}" vid="{68C260DF-F481-4FD5-8772-BDB4C507B4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psiunair_blue</Template>
  <TotalTime>3126</TotalTime>
  <Words>1719</Words>
  <Application>Microsoft Office PowerPoint</Application>
  <PresentationFormat>Widescreen</PresentationFormat>
  <Paragraphs>169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psiunair_blue</vt:lpstr>
      <vt:lpstr>Analisis Varians (ANOVA)</vt:lpstr>
      <vt:lpstr>ANOVA</vt:lpstr>
      <vt:lpstr>Outline</vt:lpstr>
      <vt:lpstr>Coba obat flu baru</vt:lpstr>
      <vt:lpstr>PowerPoint Presentation</vt:lpstr>
      <vt:lpstr>Cara kerja ANOVA (1)</vt:lpstr>
      <vt:lpstr>Cara kerja ANOVA (2)</vt:lpstr>
      <vt:lpstr>Cara kerja ANOVA (3)</vt:lpstr>
      <vt:lpstr>Cara kerja ANOVA (4)</vt:lpstr>
      <vt:lpstr>Cara kerja ANOVA (5)</vt:lpstr>
      <vt:lpstr>Cara kerja ANOVA (6)</vt:lpstr>
      <vt:lpstr>jamovi</vt:lpstr>
      <vt:lpstr>Interpretasi</vt:lpstr>
      <vt:lpstr>Post-hoc test (1)</vt:lpstr>
      <vt:lpstr>Post-hoc test (2)</vt:lpstr>
      <vt:lpstr>Post-hoc test (3)</vt:lpstr>
      <vt:lpstr>Melaporkan post-hoc test</vt:lpstr>
      <vt:lpstr>Uji asumsi</vt:lpstr>
      <vt:lpstr>Normalitas</vt:lpstr>
      <vt:lpstr>Homogenitas varians</vt:lpstr>
      <vt:lpstr>A priori power analysis (1)</vt:lpstr>
      <vt:lpstr>A priori power analysis (2)</vt:lpstr>
      <vt:lpstr>PowerPoint Presentation</vt:lpstr>
      <vt:lpstr>PowerPoint Presentation</vt:lpstr>
      <vt:lpstr>PowerPoint Presentation</vt:lpstr>
    </vt:vector>
  </TitlesOfParts>
  <Company>Psikologi Unair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Rizqy Amelia Zein</dc:creator>
  <cp:lastModifiedBy>Amelia Zein</cp:lastModifiedBy>
  <cp:revision>217</cp:revision>
  <dcterms:created xsi:type="dcterms:W3CDTF">2014-08-18T09:13:02Z</dcterms:created>
  <dcterms:modified xsi:type="dcterms:W3CDTF">2019-11-25T13:50:22Z</dcterms:modified>
</cp:coreProperties>
</file>